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2"/>
  </p:notesMasterIdLst>
  <p:handoutMasterIdLst>
    <p:handoutMasterId r:id="rId13"/>
  </p:handoutMasterIdLst>
  <p:sldIdLst>
    <p:sldId id="261" r:id="rId5"/>
    <p:sldId id="273" r:id="rId6"/>
    <p:sldId id="314" r:id="rId7"/>
    <p:sldId id="308" r:id="rId8"/>
    <p:sldId id="315" r:id="rId9"/>
    <p:sldId id="317" r:id="rId10"/>
    <p:sldId id="318" r:id="rId11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87175F"/>
    <a:srgbClr val="EEC621"/>
    <a:srgbClr val="E58C09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92" autoAdjust="0"/>
  </p:normalViewPr>
  <p:slideViewPr>
    <p:cSldViewPr>
      <p:cViewPr varScale="1">
        <p:scale>
          <a:sx n="61" d="100"/>
          <a:sy n="61" d="100"/>
        </p:scale>
        <p:origin x="1275" y="78"/>
      </p:cViewPr>
      <p:guideLst/>
    </p:cSldViewPr>
  </p:slideViewPr>
  <p:outlineViewPr>
    <p:cViewPr>
      <p:scale>
        <a:sx n="33" d="100"/>
        <a:sy n="33" d="100"/>
      </p:scale>
      <p:origin x="0" y="-555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2976" y="3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>
              <a:latin typeface="Tw Cen MT" panose="020B0602020104020603" pitchFamily="34" charset="0"/>
            </a:endParaRP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C7229B0-3DF2-4999-A1C2-AE1C4C4470E8}" type="datetime1">
              <a:rPr lang="it-IT" smtClean="0">
                <a:latin typeface="Tw Cen MT" panose="020B0602020104020603" pitchFamily="34" charset="0"/>
              </a:rPr>
              <a:t>02/08/2026</a:t>
            </a:fld>
            <a:endParaRPr lang="it-IT">
              <a:latin typeface="Tw Cen MT" panose="020B0602020104020603" pitchFamily="34" charset="0"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>
              <a:latin typeface="Tw Cen MT" panose="020B0602020104020603" pitchFamily="34" charset="0"/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1BB1589-0F8A-400D-AEF4-57688446A2F5}" type="slidenum">
              <a:rPr lang="it-IT" smtClean="0">
                <a:latin typeface="Tw Cen MT" panose="020B0602020104020603" pitchFamily="34" charset="0"/>
              </a:rPr>
              <a:t>‹N›</a:t>
            </a:fld>
            <a:endParaRPr lang="it-IT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pPr rtl="0"/>
            <a:fld id="{A8179E5A-E0EC-4D14-85DA-2BF1DBD2D7AB}" type="datetime1">
              <a:rPr lang="it-IT" noProof="0" smtClean="0"/>
              <a:t>02/08/2026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pPr rtl="0"/>
            <a:fld id="{DAE5FABD-26C8-4F74-B1E3-45BC91BC9D7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40D5-53C3-8C6E-95F4-B81F6B3E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60C15E8-50BD-1F82-5545-74534195F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931081E-322B-A9C6-1579-69D5A2CAA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1BF623-5162-7454-C0AD-34A9AFE7C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it-IT" smtClean="0"/>
              <a:pPr rtl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8827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it-IT" smtClean="0"/>
              <a:pPr rtl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8251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3682C-61D1-ED59-E73E-3F5A05D2B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02DDB15-1AD0-F1A7-D96E-D1C260A76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B0A477F-340B-8CC9-F980-22A0000A6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1A37AB1-D711-E8F6-723A-F3EF2EC0B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it-IT" smtClean="0"/>
              <a:pPr rtl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0224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3677F-CFFA-B969-ED5F-3AEF5396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F555E35-746B-3A9D-9605-5B747C96D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A4C05D0-1447-2AA7-D21B-239D51C99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EE76F8-DC1B-CB9B-449B-074CDE141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it-IT" smtClean="0"/>
              <a:pPr rtl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6475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0BA8F-3ED9-D544-B49E-01ECDD60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6C622AE-DF0D-066D-B25D-0ED4C27C3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BF0D40A-B63F-1784-DE1E-6740DF77F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35FDCB5-48D5-2131-B012-D0200D7B6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AE5FABD-26C8-4F74-B1E3-45BC91BC9D7B}" type="slidenum">
              <a:rPr lang="it-IT" smtClean="0"/>
              <a:pPr rtl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783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olo_Curr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egnaposto testo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 rtl="0"/>
            <a:r>
              <a:rPr lang="it-IT" noProof="0"/>
              <a:t>I</a:t>
            </a:r>
          </a:p>
        </p:txBody>
      </p:sp>
      <p:sp>
        <p:nvSpPr>
          <p:cNvPr id="48" name="Figura a mano libera: Forma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49" name="Figura a mano libera: Forma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rtl="0"/>
            <a:endParaRPr lang="it-IT" noProof="0"/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rtlCol="0"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rtl="0"/>
            <a:endParaRPr lang="it-IT" noProof="0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lide titolo_Curr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egnaposto testo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 rtl="0"/>
            <a:r>
              <a:rPr lang="it-IT" noProof="0"/>
              <a:t>I</a:t>
            </a:r>
          </a:p>
        </p:txBody>
      </p:sp>
      <p:sp>
        <p:nvSpPr>
          <p:cNvPr id="48" name="Figura a mano libera: Forma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49" name="Figura a mano libera: Forma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rtl="0"/>
            <a:endParaRPr lang="it-IT" noProof="0"/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rtlCol="0"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rtl="0"/>
            <a:endParaRPr lang="it-IT" noProof="0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lide titolo_Curr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testo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12" name="Segnaposto testo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10" name="Segnaposto testo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rtlCol="0"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13" name="Segnaposto testo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14" name="Segnaposto testo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lide titolo_Cur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immagine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7" name="Segnaposto testo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rtlCol="0"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rtlCol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lide titolo_Curr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2" name="Segnaposto testo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10" name="Segnaposto testo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 rtlCol="0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rtlCol="0"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rtlCol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olo diapositiv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gnaposto testo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15" name="Segnaposto immagine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rtlCol="0" anchor="ctr">
            <a:normAutofit/>
          </a:bodyPr>
          <a:lstStyle>
            <a:lvl1pPr algn="ctr">
              <a:defRPr sz="5000" spc="200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rtlCol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olo diaposi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rtlCol="0" anchor="ctr">
            <a:normAutofit/>
          </a:bodyPr>
          <a:lstStyle>
            <a:lvl1pPr algn="ctr">
              <a:defRPr sz="5000" spc="200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8" name="Segnaposto testo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2667000"/>
            <a:ext cx="10288693" cy="3660648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0" name="Segnaposto immagine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4" name="Segnaposto numero diapositiva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mfasi sotto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2667000"/>
            <a:ext cx="10288693" cy="3660648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0" name="Segnaposto immagine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 rtlCol="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sotto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2667000"/>
            <a:ext cx="10288693" cy="3660648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0" name="Segnaposto immagine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_B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_smeral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_aranc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_ro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_cele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_grig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_Blu_patch triangolo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igura a mano libera: Forma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it-IT" noProof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sottotitolo 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1" y="2667000"/>
            <a:ext cx="5775960" cy="3660648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0" name="Segnaposto immagine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sottotitolo contenuto e immagine_barra forme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1" y="2667000"/>
            <a:ext cx="5775960" cy="3660648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sottotitolo contenuto e immagine_barra forme bianca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2" name="Segnaposto testo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1" y="2667000"/>
            <a:ext cx="5775960" cy="3660648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6" name="Segnaposto numero diapositiva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sottotitolo contenuto e metà immagine orizzontale_barra forme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4709677"/>
            <a:ext cx="11094717" cy="1500876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sottotitolo contenuto e metà immagine_barra forme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53200" y="2667001"/>
            <a:ext cx="5090157" cy="3543552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à immagine titolo contenuto e barra forme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4617492"/>
            <a:ext cx="9890759" cy="1527048"/>
          </a:xfrm>
        </p:spPr>
        <p:txBody>
          <a:bodyPr lIns="91440" rIns="91440"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Inserisci immagine</a:t>
            </a:r>
          </a:p>
        </p:txBody>
      </p:sp>
      <p:sp>
        <p:nvSpPr>
          <p:cNvPr id="12" name="Segnaposto numero diapositiva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à immagine titolo due colonne contenuto e barra forme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1" y="4617492"/>
            <a:ext cx="5212080" cy="1527048"/>
          </a:xfrm>
        </p:spPr>
        <p:txBody>
          <a:bodyPr lIns="91440" rIns="91440"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Inserisci immagine</a:t>
            </a:r>
          </a:p>
        </p:txBody>
      </p:sp>
      <p:sp>
        <p:nvSpPr>
          <p:cNvPr id="12" name="Segnaposto contenuto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446520" y="4617492"/>
            <a:ext cx="5212080" cy="1527048"/>
          </a:xfrm>
        </p:spPr>
        <p:txBody>
          <a:bodyPr lIns="91440" rIns="91440"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4" name="Segnaposto numero diapositiva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tà immagine titolo due colonne contenuto e barra forme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3" name="Segnaposto testo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12" name="Segnaposto contenuto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it-IT" noProof="0"/>
              <a:t>Contenuto importante</a:t>
            </a:r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15" name="Segnaposto numero diapositiva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à immagine immagini multiple titolo due colonne contenuto e barra forme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4" name="Segnaposto immagine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6" name="Segnaposto immagine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Inserisci immagine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intera con barra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Inserisci immagine</a:t>
            </a:r>
          </a:p>
        </p:txBody>
      </p: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inte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Inserisci immagine</a:t>
            </a:r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inte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Inserisci immagine</a:t>
            </a:r>
          </a:p>
        </p:txBody>
      </p:sp>
      <p:sp>
        <p:nvSpPr>
          <p:cNvPr id="6" name="Segnaposto testo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it-IT" noProof="0"/>
              <a:t>Contenuto importante</a:t>
            </a:r>
          </a:p>
        </p:txBody>
      </p: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inte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Inserisci immagine</a:t>
            </a:r>
          </a:p>
        </p:txBody>
      </p:sp>
      <p:sp>
        <p:nvSpPr>
          <p:cNvPr id="6" name="Segnaposto testo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it-IT" noProof="0"/>
              <a:t>Contenuto importante</a:t>
            </a:r>
          </a:p>
        </p:txBody>
      </p: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sottotitolo contenuto e metà immagine_barra forme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4021648"/>
            <a:ext cx="5090157" cy="1884265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2" name="Segnaposto contenuto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527803" y="4021648"/>
            <a:ext cx="5090157" cy="1884265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 rtlCol="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15" name="Segnaposto immagine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17" name="Segnaposto numero diapositiva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olo sottotitolo contenuto e metà immagine_barra forme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4021648"/>
            <a:ext cx="3474720" cy="1884265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 rtlCol="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2" name="Segnaposto contenuto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58640" y="4021648"/>
            <a:ext cx="3474720" cy="1884265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 rtlCol="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15" name="Segnaposto immagine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16" name="Segnaposto contenuto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68640" y="4021648"/>
            <a:ext cx="3474720" cy="1884265"/>
          </a:xfrm>
        </p:spPr>
        <p:txBody>
          <a:bodyPr lIns="91440" rIns="9144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7" name="Segnaposto testo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 rtlCol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9" name="Segnaposto immagine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21" name="Segnaposto numero diapositiva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icona contenuto 2 rig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rtlCol="0" anchor="ctr">
            <a:noAutofit/>
          </a:bodyPr>
          <a:lstStyle>
            <a:lvl1pPr>
              <a:defRPr/>
            </a:lvl1pPr>
          </a:lstStyle>
          <a:p>
            <a:pPr lvl="0" rtl="0"/>
            <a:r>
              <a:rPr lang="it-IT" noProof="0"/>
              <a:t>Testo descrizione 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 rtlCol="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20" name="Segnaposto contenuto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rtlCol="0" anchor="ctr">
            <a:noAutofit/>
          </a:bodyPr>
          <a:lstStyle>
            <a:lvl1pPr>
              <a:defRPr/>
            </a:lvl1pPr>
          </a:lstStyle>
          <a:p>
            <a:pPr lvl="0" rtl="0"/>
            <a:r>
              <a:rPr lang="it-IT" noProof="0"/>
              <a:t>Testo descrizione </a:t>
            </a:r>
          </a:p>
        </p:txBody>
      </p:sp>
      <p:sp>
        <p:nvSpPr>
          <p:cNvPr id="21" name="Segnaposto testo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 rtlCol="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22" name="Segnaposto immagine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16" name="Segnaposto numero diapositiva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icona contenuto 3 rig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 rtlCol="0"/>
          <a:lstStyle>
            <a:lvl1pPr>
              <a:defRPr/>
            </a:lvl1pPr>
          </a:lstStyle>
          <a:p>
            <a:pPr lvl="0" rtl="0"/>
            <a:r>
              <a:rPr lang="it-IT" noProof="0"/>
              <a:t>Testo descrizione 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547465"/>
            <a:ext cx="3810000" cy="757130"/>
          </a:xfrm>
          <a:noFill/>
        </p:spPr>
        <p:txBody>
          <a:bodyPr wrap="square" lIns="91440" rIns="91440" rtlCol="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20" name="Segnaposto contenuto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 rtlCol="0"/>
          <a:lstStyle>
            <a:lvl1pPr>
              <a:defRPr/>
            </a:lvl1pPr>
          </a:lstStyle>
          <a:p>
            <a:pPr lvl="0" rtl="0"/>
            <a:r>
              <a:rPr lang="it-IT" noProof="0"/>
              <a:t>Testo descrizione </a:t>
            </a:r>
          </a:p>
        </p:txBody>
      </p:sp>
      <p:sp>
        <p:nvSpPr>
          <p:cNvPr id="21" name="Segnaposto testo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680800"/>
            <a:ext cx="3810000" cy="757130"/>
          </a:xfrm>
          <a:noFill/>
        </p:spPr>
        <p:txBody>
          <a:bodyPr wrap="square" lIns="91440" rIns="91440" rtlCol="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22" name="Segnaposto immagine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16" name="Segnaposto numero diapositiva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13" name="Segnaposto contenuto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 rtlCol="0"/>
          <a:lstStyle>
            <a:lvl1pPr>
              <a:defRPr/>
            </a:lvl1pPr>
          </a:lstStyle>
          <a:p>
            <a:pPr lvl="0" rtl="0"/>
            <a:r>
              <a:rPr lang="it-IT" noProof="0"/>
              <a:t>Testo descrizione </a:t>
            </a:r>
          </a:p>
        </p:txBody>
      </p:sp>
      <p:sp>
        <p:nvSpPr>
          <p:cNvPr id="17" name="Segnaposto testo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814136"/>
            <a:ext cx="3810000" cy="757130"/>
          </a:xfrm>
          <a:noFill/>
        </p:spPr>
        <p:txBody>
          <a:bodyPr wrap="square" lIns="91440" rIns="91440" rtlCol="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 rtl="0"/>
            <a:r>
              <a:rPr lang="it-IT" noProof="0"/>
              <a:t>INSERIRE TESTO AGGIUNTIVO </a:t>
            </a:r>
          </a:p>
        </p:txBody>
      </p:sp>
      <p:sp>
        <p:nvSpPr>
          <p:cNvPr id="19" name="Segnaposto immagine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lato patch icona contenuto 3 rig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igura a mano libera: Forma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rtlCol="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it-IT" noProof="0"/>
              <a:t>Testo descrizione 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rtlCol="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IL TESTO </a:t>
            </a:r>
          </a:p>
        </p:txBody>
      </p:sp>
      <p:sp>
        <p:nvSpPr>
          <p:cNvPr id="14" name="Segnaposto immagine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20" name="Segnaposto contenuto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rtlCol="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it-IT" noProof="0"/>
              <a:t>Testo descrizione </a:t>
            </a:r>
          </a:p>
        </p:txBody>
      </p:sp>
      <p:sp>
        <p:nvSpPr>
          <p:cNvPr id="21" name="Segnaposto testo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rtlCol="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 rtl="0"/>
            <a:r>
              <a:rPr lang="it-IT" noProof="0"/>
              <a:t>INSERIRE IL TESTO </a:t>
            </a:r>
          </a:p>
        </p:txBody>
      </p:sp>
      <p:sp>
        <p:nvSpPr>
          <p:cNvPr id="22" name="Segnaposto immagine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16" name="Segnaposto numero diapositiva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13" name="Segnaposto contenuto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rtlCol="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 rtl="0"/>
            <a:r>
              <a:rPr lang="it-IT" noProof="0"/>
              <a:t>Testo descrizione </a:t>
            </a:r>
          </a:p>
        </p:txBody>
      </p:sp>
      <p:sp>
        <p:nvSpPr>
          <p:cNvPr id="17" name="Segnaposto testo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rtlCol="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 rtl="0"/>
            <a:r>
              <a:rPr lang="it-IT" noProof="0"/>
              <a:t>INSERIRE IL TESTO </a:t>
            </a:r>
          </a:p>
        </p:txBody>
      </p:sp>
      <p:sp>
        <p:nvSpPr>
          <p:cNvPr id="19" name="Segnaposto immagine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Icona</a:t>
            </a:r>
          </a:p>
        </p:txBody>
      </p:sp>
      <p:sp>
        <p:nvSpPr>
          <p:cNvPr id="35" name="Figura a mano libera: Forma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lato patch 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igura a mano libera: Forma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6" name="Segnaposto numero diapositiva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15" name="Figura a mano libera: Forma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egnaposto immagine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 1</a:t>
            </a:r>
          </a:p>
        </p:txBody>
      </p:sp>
      <p:sp>
        <p:nvSpPr>
          <p:cNvPr id="30" name="Segnaposto immagine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 2</a:t>
            </a:r>
          </a:p>
        </p:txBody>
      </p:sp>
      <p:sp>
        <p:nvSpPr>
          <p:cNvPr id="31" name="Segnaposto immagine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 3</a:t>
            </a:r>
          </a:p>
        </p:txBody>
      </p:sp>
      <p:sp>
        <p:nvSpPr>
          <p:cNvPr id="32" name="Segnaposto testo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IL TESTO </a:t>
            </a:r>
          </a:p>
        </p:txBody>
      </p:sp>
      <p:sp>
        <p:nvSpPr>
          <p:cNvPr id="33" name="Segnaposto testo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IL TESTO </a:t>
            </a:r>
          </a:p>
        </p:txBody>
      </p:sp>
      <p:sp>
        <p:nvSpPr>
          <p:cNvPr id="35" name="Segnaposto testo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it-IT" noProof="0"/>
              <a:t>INSERIRE IL TESTO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igura a mano libera: Forma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6" name="Segnaposto numero diapositiva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15" name="Figura a mano libera: Forma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egnaposto immagine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32" name="Segnaposto testo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INSERIRE IL TESTO </a:t>
            </a:r>
          </a:p>
        </p:txBody>
      </p:sp>
      <p:sp>
        <p:nvSpPr>
          <p:cNvPr id="17" name="Segnaposto testo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o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Connettore diritto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diritto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egnaposto immagine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6" name="Segnaposto immagine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7" name="Segnaposto immagine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Connettore diritto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diritto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Segnaposto immagine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42" name="Segnaposto immagine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43" name="Segnaposto immagine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44" name="Segnaposto testo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45" name="Segnaposto testo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46" name="Segnaposto testo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47" name="Segnaposto testo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48" name="Segnaposto testo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49" name="Segnaposto testo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_Org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INSERIRE IL TESTO 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immagine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7" name="Segnaposto testo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18" name="Segnaposto testo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21" name="Segnaposto testo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22" name="Segnaposto immagine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3" name="Segnaposto testo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24" name="Segnaposto testo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25" name="Segnaposto immagine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6" name="Segnaposto testo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27" name="Segnaposto testo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28" name="Segnaposto immagine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9" name="Segnaposto testo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30" name="Segnaposto testo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_Org grafic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INSERIRE IL TESTO 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immagine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7" name="Segnaposto testo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18" name="Segnaposto testo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21" name="Segnaposto testo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22" name="Segnaposto immagine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3" name="Segnaposto testo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24" name="Segnaposto testo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25" name="Segnaposto immagine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6" name="Segnaposto testo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27" name="Segnaposto testo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28" name="Segnaposto immagine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9" name="Segnaposto testo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30" name="Segnaposto testo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31" name="Segnaposto immagine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32" name="Segnaposto testo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33" name="Segnaposto testo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_Org grafic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INSERIRE IL TESTO 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rtlCol="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immagine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7" name="Segnaposto testo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18" name="Segnaposto testo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21" name="Segnaposto testo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22" name="Segnaposto immagine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3" name="Segnaposto testo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24" name="Segnaposto testo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25" name="Segnaposto immagine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6" name="Segnaposto testo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27" name="Segnaposto testo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28" name="Segnaposto immagine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9" name="Segnaposto testo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30" name="Segnaposto testo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31" name="Segnaposto immagine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32" name="Segnaposto testo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33" name="Segnaposto testo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egnaposto immagine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39" name="Segnaposto testo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40" name="Segnaposto testo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41" name="Segnaposto immagine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42" name="Segnaposto testo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43" name="Segnaposto testo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44" name="Segnaposto immagine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45" name="Segnaposto testo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46" name="Segnaposto testo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  <p:sp>
        <p:nvSpPr>
          <p:cNvPr id="47" name="Segnaposto immagine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48" name="Segnaposto testo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NOME</a:t>
            </a:r>
          </a:p>
        </p:txBody>
      </p:sp>
      <p:sp>
        <p:nvSpPr>
          <p:cNvPr id="49" name="Segnaposto testo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rtlCol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Descrizione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lato patch 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igura a mano libera: Forma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rtlCol="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6" name="Segnaposto numero diapositiva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15" name="Figura a mano libera: Forma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uto didascalia immagine_bl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rtlCol="0"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8" name="Segnaposto testo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uto didascalia immagine_arancio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rtlCol="0"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8" name="Segnaposto testo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 rtlCol="0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8" name="Segnaposto testo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 rtlCol="0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8" name="Segnaposto testo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 rtlCol="0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8" name="Segnaposto testo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egnaposto immagine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7" name="Segnaposto testo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6" name="Segnaposto testo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rtlCol="0"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7" name="Segnaposto testo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rtlCol="0"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9" name="Segnaposto testo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7" name="Segnaposto testo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rtlCol="0"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9" name="Segnaposto testo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7" name="Segnaposto testo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rtlCol="0"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9" name="Segnaposto testo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7" name="Segnaposto testo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rtlCol="0"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9" name="Segnaposto testo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di-grazi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egnaposto testo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 rtl="0"/>
            <a:r>
              <a:rPr lang="it-IT" noProof="0"/>
              <a:t>I</a:t>
            </a:r>
          </a:p>
        </p:txBody>
      </p:sp>
      <p:sp>
        <p:nvSpPr>
          <p:cNvPr id="48" name="Figura a mano libera: Forma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49" name="Figura a mano libera: Forma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rtl="0"/>
            <a:endParaRPr lang="it-IT" noProof="0"/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rtlCol="0"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GRAZIE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rtl="0"/>
            <a:endParaRPr lang="it-IT" noProof="0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di-graz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egnaposto immagine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27" name="Segnaposto testo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rtlCol="0"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GRAZIE</a:t>
            </a:r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di-grazie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2" name="Segnaposto testo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10" name="Segnaposto testo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 rtlCol="0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rtlCol="0"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it-IT" noProof="0"/>
              <a:t>GRAZIE</a:t>
            </a:r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di-grazie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gnaposto testo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 rtlCol="0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15" name="Segnaposto immagine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rtlCol="0" anchor="ctr">
            <a:normAutofit/>
          </a:bodyPr>
          <a:lstStyle>
            <a:lvl1pPr algn="ctr">
              <a:defRPr sz="5000" spc="200" baseline="0"/>
            </a:lvl1pPr>
          </a:lstStyle>
          <a:p>
            <a:pPr rtl="0"/>
            <a:r>
              <a:rPr lang="it-IT" noProof="0"/>
              <a:t>GRAZIE</a:t>
            </a:r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di-grazi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it-IT" noProof="0"/>
              <a:t>Inserire immagine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rtlCol="0" anchor="ctr">
            <a:normAutofit/>
          </a:bodyPr>
          <a:lstStyle>
            <a:lvl1pPr algn="ctr">
              <a:defRPr sz="5000" spc="200" baseline="0"/>
            </a:lvl1pPr>
          </a:lstStyle>
          <a:p>
            <a:pPr rtl="0"/>
            <a:r>
              <a:rPr lang="it-IT" noProof="0"/>
              <a:t>GRAZIE</a:t>
            </a:r>
          </a:p>
        </p:txBody>
      </p:sp>
      <p:sp>
        <p:nvSpPr>
          <p:cNvPr id="7" name="Segnaposto testo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  <p:sp>
        <p:nvSpPr>
          <p:cNvPr id="8" name="Segnaposto testo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it-IT" noProof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immagine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Segnaposto testo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286" name="Segnaposto testo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1884040"/>
          </a:xfrm>
        </p:spPr>
        <p:txBody>
          <a:bodyPr rtlCol="0">
            <a:normAutofit/>
          </a:bodyPr>
          <a:lstStyle/>
          <a:p>
            <a:r>
              <a:rPr lang="en-US" sz="6000" dirty="0"/>
              <a:t>Italian Road Traffic</a:t>
            </a:r>
            <a:br>
              <a:rPr lang="en-US" sz="6000" dirty="0"/>
            </a:br>
            <a:r>
              <a:rPr lang="en-US" sz="6000" dirty="0"/>
              <a:t>Analysis</a:t>
            </a:r>
            <a:endParaRPr lang="it-IT" sz="6000" dirty="0"/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54654"/>
            <a:ext cx="10947960" cy="707886"/>
          </a:xfrm>
        </p:spPr>
        <p:txBody>
          <a:bodyPr rtlCol="0">
            <a:noAutofit/>
          </a:bodyPr>
          <a:lstStyle/>
          <a:p>
            <a:pPr rtl="0"/>
            <a:r>
              <a:rPr lang="it-IT" sz="2400" b="1" dirty="0">
                <a:solidFill>
                  <a:srgbClr val="FF0000"/>
                </a:solidFill>
              </a:rPr>
              <a:t>PROBLEMA IN QUESTIONE, PROCESSO UTILIZZATO E STRUMENTI/TECNOLOGIE UTILIZZATI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egnaposto contenuto 12">
                <a:extLst>
                  <a:ext uri="{FF2B5EF4-FFF2-40B4-BE49-F238E27FC236}">
                    <a16:creationId xmlns:a16="http://schemas.microsoft.com/office/drawing/2014/main" id="{556610ED-3E2D-4E6A-ABD0-150F203E6B4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48640" y="1412775"/>
                <a:ext cx="10947960" cy="5445225"/>
              </a:xfrm>
            </p:spPr>
            <p:txBody>
              <a:bodyPr rtlCol="0">
                <a:normAutofit fontScale="92500" lnSpcReduction="10000"/>
              </a:bodyPr>
              <a:lstStyle/>
              <a:p>
                <a:r>
                  <a:rPr lang="it-IT" dirty="0"/>
                  <a:t>Osservare e capire quali sono le </a:t>
                </a:r>
                <a:r>
                  <a:rPr lang="it-IT" b="1" dirty="0"/>
                  <a:t>città</a:t>
                </a:r>
                <a:r>
                  <a:rPr lang="it-IT" dirty="0"/>
                  <a:t> in cui si verificano più </a:t>
                </a:r>
                <a:r>
                  <a:rPr lang="it-IT" b="1" dirty="0"/>
                  <a:t>incidenti stradali</a:t>
                </a:r>
                <a:r>
                  <a:rPr lang="it-IT" dirty="0"/>
                  <a:t>, le città con il </a:t>
                </a:r>
                <a:r>
                  <a:rPr lang="it-IT" b="1" dirty="0"/>
                  <a:t>tasso di incidenti per abitanti residenti</a:t>
                </a:r>
                <a:r>
                  <a:rPr lang="it-IT" dirty="0"/>
                  <a:t> e quelle con il </a:t>
                </a:r>
                <a:r>
                  <a:rPr lang="it-IT" b="1" dirty="0"/>
                  <a:t>tasso di incidenti per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𝒌𝒎</m:t>
                        </m:r>
                      </m:e>
                      <m:sup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it-IT" dirty="0"/>
                  <a:t> più alto, e le città con il più alto </a:t>
                </a:r>
                <a:r>
                  <a:rPr lang="it-IT" b="1" dirty="0"/>
                  <a:t>rapporto di incidenti</a:t>
                </a:r>
                <a:r>
                  <a:rPr lang="it-IT" dirty="0"/>
                  <a:t> in base ai </a:t>
                </a:r>
                <a:r>
                  <a:rPr lang="it-IT" b="1" dirty="0"/>
                  <a:t>veicoli</a:t>
                </a:r>
                <a:r>
                  <a:rPr lang="it-IT" dirty="0"/>
                  <a:t>, negli ultimi anni.</a:t>
                </a:r>
              </a:p>
              <a:p>
                <a:pPr rtl="0"/>
                <a:r>
                  <a:rPr lang="it-IT" dirty="0"/>
                  <a:t>Dopo aver ottenuto e visualizzato i </a:t>
                </a:r>
                <a:r>
                  <a:rPr lang="it-IT" u="sng" dirty="0"/>
                  <a:t>risultati</a:t>
                </a:r>
                <a:r>
                  <a:rPr lang="it-IT" dirty="0"/>
                  <a:t>, sono state individuate le città in cui conviene maggiormente </a:t>
                </a:r>
                <a:r>
                  <a:rPr lang="it-IT" b="1" dirty="0"/>
                  <a:t>insediarsi commercialmente ed economicamente</a:t>
                </a:r>
                <a:r>
                  <a:rPr lang="it-IT" dirty="0"/>
                  <a:t> in modo tale da sfruttare le problematiche evidenti con la conseguenza che, attraverso gli strumenti, l’efficienza, la competenza e la qualità dei servizi della compagnia possa </a:t>
                </a:r>
                <a:r>
                  <a:rPr lang="it-IT" b="1" dirty="0"/>
                  <a:t>migliorare</a:t>
                </a:r>
                <a:r>
                  <a:rPr lang="it-IT" dirty="0"/>
                  <a:t> la </a:t>
                </a:r>
                <a:r>
                  <a:rPr lang="it-IT" b="1" dirty="0"/>
                  <a:t>gestione del traffico stradale e la prevenzione dei rischi</a:t>
                </a:r>
                <a:r>
                  <a:rPr lang="it-IT" dirty="0"/>
                  <a:t>.</a:t>
                </a:r>
              </a:p>
              <a:p>
                <a:r>
                  <a:rPr lang="it-IT" dirty="0"/>
                  <a:t>Gli </a:t>
                </a:r>
                <a:r>
                  <a:rPr lang="it-IT" u="sng" dirty="0"/>
                  <a:t>investimenti</a:t>
                </a:r>
                <a:r>
                  <a:rPr lang="it-IT" dirty="0"/>
                  <a:t> possono riguardare sia </a:t>
                </a:r>
                <a:r>
                  <a:rPr lang="it-IT" b="1" dirty="0"/>
                  <a:t>interventi infrastrutturali</a:t>
                </a:r>
                <a:r>
                  <a:rPr lang="it-IT" dirty="0"/>
                  <a:t> sia </a:t>
                </a:r>
                <a:r>
                  <a:rPr lang="it-IT" b="1" dirty="0"/>
                  <a:t>soluzioni tecnologiche avanzate</a:t>
                </a:r>
                <a:r>
                  <a:rPr lang="it-IT" dirty="0"/>
                  <a:t>. </a:t>
                </a:r>
                <a:br>
                  <a:rPr lang="it-IT" dirty="0"/>
                </a:br>
                <a:r>
                  <a:rPr lang="it-IT" dirty="0"/>
                  <a:t>In particolare, risultano strategici l'implementazione di sistemi intelligenti di gestione del traffico (ITS), il monitoraggio in tempo reale mediante sensori e telecamere, l'analisi predittiva delle aree a maggiore rischio di incidentalità, l'ottimizzazione dei percorsi dei mezzi di emergenza e la realizzazione di interventi mirati nei punti a maggiore concentrazione di incidenti. Tali soluzioni consentono di migliorare la sicurezza stradale, </a:t>
                </a:r>
                <a:r>
                  <a:rPr lang="it-IT" b="1" dirty="0"/>
                  <a:t>ridurre i tempi di intervento</a:t>
                </a:r>
                <a:r>
                  <a:rPr lang="it-IT" dirty="0"/>
                  <a:t> e </a:t>
                </a:r>
                <a:r>
                  <a:rPr lang="it-IT" b="1" dirty="0"/>
                  <a:t>ripristinare la viabilità</a:t>
                </a:r>
                <a:r>
                  <a:rPr lang="it-IT" dirty="0"/>
                  <a:t>, ottimizzare la </a:t>
                </a:r>
                <a:r>
                  <a:rPr lang="it-IT" b="1" dirty="0"/>
                  <a:t>mobilità urbana</a:t>
                </a:r>
                <a:r>
                  <a:rPr lang="it-IT" dirty="0"/>
                  <a:t> e </a:t>
                </a:r>
                <a:r>
                  <a:rPr lang="it-IT" u="sng" dirty="0"/>
                  <a:t>diminuire</a:t>
                </a:r>
                <a:r>
                  <a:rPr lang="it-IT" dirty="0"/>
                  <a:t> il </a:t>
                </a:r>
                <a:r>
                  <a:rPr lang="it-IT" b="1" dirty="0"/>
                  <a:t>numero e la gravità degli incidenti</a:t>
                </a:r>
                <a:r>
                  <a:rPr lang="it-IT" dirty="0"/>
                  <a:t>.</a:t>
                </a:r>
              </a:p>
              <a:p>
                <a:r>
                  <a:rPr lang="it-IT" b="1" dirty="0"/>
                  <a:t>Collect the Data (ISTAT)</a:t>
                </a:r>
                <a:r>
                  <a:rPr lang="it-IT" dirty="0"/>
                  <a:t> -  </a:t>
                </a:r>
                <a:r>
                  <a:rPr lang="it-IT" b="1" dirty="0"/>
                  <a:t>Conoscenza delle variabili</a:t>
                </a:r>
                <a:r>
                  <a:rPr lang="it-IT" dirty="0"/>
                  <a:t> -  </a:t>
                </a:r>
                <a:r>
                  <a:rPr lang="it-IT" b="1" dirty="0"/>
                  <a:t>NoteBook (VsCode)</a:t>
                </a:r>
                <a:r>
                  <a:rPr lang="it-IT" dirty="0"/>
                  <a:t> - </a:t>
                </a:r>
                <a:r>
                  <a:rPr lang="it-IT" b="1" dirty="0"/>
                  <a:t>Dashboard (PowerBI)</a:t>
                </a:r>
              </a:p>
              <a:p>
                <a:r>
                  <a:rPr lang="it-IT" dirty="0"/>
                  <a:t>ISTAT: </a:t>
                </a:r>
              </a:p>
              <a:p>
                <a:pPr lvl="2"/>
                <a:r>
                  <a:rPr lang="it-IT" dirty="0"/>
                  <a:t>https://esploradati.istat.it/SDMXWS/rest/data/41_983?startPeriod=2021&amp;endPeriod=2023</a:t>
                </a:r>
              </a:p>
              <a:p>
                <a:pPr lvl="2"/>
                <a:r>
                  <a:rPr lang="it-IT" dirty="0"/>
                  <a:t>https://situas.istat.it/web/#/territorio/body?id=74&amp;dateFrom=2020-12-31</a:t>
                </a:r>
              </a:p>
              <a:p>
                <a:pPr lvl="2"/>
                <a:r>
                  <a:rPr lang="it-IT" dirty="0"/>
                  <a:t>https://share.google/zM1ouAjys23VoMC4z</a:t>
                </a:r>
              </a:p>
            </p:txBody>
          </p:sp>
        </mc:Choice>
        <mc:Fallback>
          <p:sp>
            <p:nvSpPr>
              <p:cNvPr id="13" name="Segnaposto contenuto 12">
                <a:extLst>
                  <a:ext uri="{FF2B5EF4-FFF2-40B4-BE49-F238E27FC236}">
                    <a16:creationId xmlns:a16="http://schemas.microsoft.com/office/drawing/2014/main" id="{556610ED-3E2D-4E6A-ABD0-150F203E6B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48640" y="1412775"/>
                <a:ext cx="10947960" cy="5445225"/>
              </a:xfrm>
              <a:blipFill>
                <a:blip r:embed="rId3"/>
                <a:stretch>
                  <a:fillRect l="-390" t="-1568" r="-105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Segnaposto immagine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9D43F-CCFA-0AC9-7533-1DEB89021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1">
            <a:extLst>
              <a:ext uri="{FF2B5EF4-FFF2-40B4-BE49-F238E27FC236}">
                <a16:creationId xmlns:a16="http://schemas.microsoft.com/office/drawing/2014/main" id="{324655D6-8942-B624-9780-C955D4D94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54654"/>
            <a:ext cx="10805160" cy="707886"/>
          </a:xfrm>
        </p:spPr>
        <p:txBody>
          <a:bodyPr rtlCol="0"/>
          <a:lstStyle/>
          <a:p>
            <a:pPr rtl="0"/>
            <a:r>
              <a:rPr lang="it-IT" dirty="0">
                <a:solidFill>
                  <a:srgbClr val="FF0000"/>
                </a:solidFill>
              </a:rPr>
              <a:t>STRUTTURA, VARIABILI E </a:t>
            </a:r>
            <a:r>
              <a:rPr lang="it-IT" dirty="0" err="1">
                <a:solidFill>
                  <a:srgbClr val="FF0000"/>
                </a:solidFill>
              </a:rPr>
              <a:t>UNIONe</a:t>
            </a:r>
            <a:r>
              <a:rPr lang="it-IT" dirty="0">
                <a:solidFill>
                  <a:srgbClr val="FF0000"/>
                </a:solidFill>
              </a:rPr>
              <a:t> DEI DATASET</a:t>
            </a:r>
          </a:p>
        </p:txBody>
      </p:sp>
      <p:sp>
        <p:nvSpPr>
          <p:cNvPr id="13" name="Segnaposto contenuto 12">
            <a:extLst>
              <a:ext uri="{FF2B5EF4-FFF2-40B4-BE49-F238E27FC236}">
                <a16:creationId xmlns:a16="http://schemas.microsoft.com/office/drawing/2014/main" id="{06B9805C-752D-CF94-65DB-2E1DB9B784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1412776"/>
            <a:ext cx="11235992" cy="5445224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it-IT" b="1" dirty="0"/>
              <a:t>Struttura</a:t>
            </a:r>
            <a:r>
              <a:rPr lang="it-IT" dirty="0"/>
              <a:t> e </a:t>
            </a:r>
            <a:r>
              <a:rPr lang="it-IT" b="1" dirty="0"/>
              <a:t>variabili</a:t>
            </a:r>
            <a:r>
              <a:rPr lang="it-IT" dirty="0"/>
              <a:t> del </a:t>
            </a:r>
            <a:r>
              <a:rPr lang="it-IT" u="sng" dirty="0"/>
              <a:t>Dataset di partenza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Dataflow: «IT1:41_983(1.0)» </a:t>
            </a:r>
            <a:r>
              <a:rPr lang="it-IT" dirty="0">
                <a:sym typeface="Wingdings" panose="05000000000000000000" pitchFamily="2" charset="2"/>
              </a:rPr>
              <a:t> IT1: ISTAT ; </a:t>
            </a:r>
            <a:r>
              <a:rPr lang="it-IT" b="1" dirty="0">
                <a:sym typeface="Wingdings" panose="05000000000000000000" pitchFamily="2" charset="2"/>
              </a:rPr>
              <a:t>41_983</a:t>
            </a:r>
            <a:r>
              <a:rPr lang="it-IT" dirty="0">
                <a:sym typeface="Wingdings" panose="05000000000000000000" pitchFamily="2" charset="2"/>
              </a:rPr>
              <a:t>: «</a:t>
            </a:r>
            <a:r>
              <a:rPr lang="it-IT" b="1" dirty="0">
                <a:sym typeface="Wingdings" panose="05000000000000000000" pitchFamily="2" charset="2"/>
              </a:rPr>
              <a:t>Incidenti, morti e feriti – comuni</a:t>
            </a:r>
            <a:r>
              <a:rPr lang="it-IT" dirty="0">
                <a:sym typeface="Wingdings" panose="05000000000000000000" pitchFamily="2" charset="2"/>
              </a:rPr>
              <a:t>» ; 1.0: versione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Freq: A  </a:t>
            </a:r>
            <a:r>
              <a:rPr lang="it-IT" b="1" dirty="0">
                <a:sym typeface="Wingdings" panose="05000000000000000000" pitchFamily="2" charset="2"/>
              </a:rPr>
              <a:t>Frequenza annuale</a:t>
            </a:r>
            <a:r>
              <a:rPr lang="it-IT" dirty="0">
                <a:sym typeface="Wingdings" panose="05000000000000000000" pitchFamily="2" charset="2"/>
              </a:rPr>
              <a:t> dei dati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Ref_area: </a:t>
            </a:r>
            <a:r>
              <a:rPr lang="it-IT" b="1" dirty="0">
                <a:sym typeface="Wingdings" panose="05000000000000000000" pitchFamily="2" charset="2"/>
              </a:rPr>
              <a:t>Codice standard numerico</a:t>
            </a:r>
            <a:r>
              <a:rPr lang="it-IT" dirty="0">
                <a:sym typeface="Wingdings" panose="05000000000000000000" pitchFamily="2" charset="2"/>
              </a:rPr>
              <a:t> che identifica i </a:t>
            </a:r>
            <a:r>
              <a:rPr lang="it-IT" b="1" dirty="0">
                <a:sym typeface="Wingdings" panose="05000000000000000000" pitchFamily="2" charset="2"/>
              </a:rPr>
              <a:t>comuni</a:t>
            </a:r>
            <a:r>
              <a:rPr lang="it-IT" dirty="0">
                <a:sym typeface="Wingdings" panose="05000000000000000000" pitchFamily="2" charset="2"/>
              </a:rPr>
              <a:t> di riferimento sul territorio italiano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Data_type: </a:t>
            </a:r>
            <a:r>
              <a:rPr lang="it-IT" b="1" dirty="0">
                <a:sym typeface="Wingdings" panose="05000000000000000000" pitchFamily="2" charset="2"/>
              </a:rPr>
              <a:t>KILLINJ</a:t>
            </a:r>
            <a:r>
              <a:rPr lang="it-IT" dirty="0">
                <a:sym typeface="Wingdings" panose="05000000000000000000" pitchFamily="2" charset="2"/>
              </a:rPr>
              <a:t>/</a:t>
            </a:r>
            <a:r>
              <a:rPr lang="it-IT" b="1" dirty="0">
                <a:sym typeface="Wingdings" panose="05000000000000000000" pitchFamily="2" charset="2"/>
              </a:rPr>
              <a:t>ROADACC</a:t>
            </a:r>
            <a:r>
              <a:rPr lang="it-IT" dirty="0">
                <a:sym typeface="Wingdings" panose="05000000000000000000" pitchFamily="2" charset="2"/>
              </a:rPr>
              <a:t>:</a:t>
            </a:r>
          </a:p>
          <a:p>
            <a:pPr lvl="2"/>
            <a:r>
              <a:rPr lang="it-IT" u="sng" dirty="0">
                <a:sym typeface="Wingdings" panose="05000000000000000000" pitchFamily="2" charset="2"/>
              </a:rPr>
              <a:t>ROADACC</a:t>
            </a:r>
            <a:r>
              <a:rPr lang="it-IT" dirty="0">
                <a:sym typeface="Wingdings" panose="05000000000000000000" pitchFamily="2" charset="2"/>
              </a:rPr>
              <a:t>: «</a:t>
            </a:r>
            <a:r>
              <a:rPr lang="it-IT" b="1" dirty="0">
                <a:sym typeface="Wingdings" panose="05000000000000000000" pitchFamily="2" charset="2"/>
              </a:rPr>
              <a:t>Incidenti stradali con lesioni alle persone</a:t>
            </a:r>
            <a:r>
              <a:rPr lang="it-IT" dirty="0">
                <a:sym typeface="Wingdings" panose="05000000000000000000" pitchFamily="2" charset="2"/>
              </a:rPr>
              <a:t>»</a:t>
            </a:r>
          </a:p>
          <a:p>
            <a:pPr marL="457200" lvl="2" indent="0">
              <a:buNone/>
            </a:pPr>
            <a:r>
              <a:rPr lang="it-IT" dirty="0">
                <a:sym typeface="Wingdings" panose="05000000000000000000" pitchFamily="2" charset="2"/>
              </a:rPr>
              <a:t>«L</a:t>
            </a:r>
            <a:r>
              <a:rPr lang="it-IT" u="sng" dirty="0">
                <a:sym typeface="Wingdings" panose="05000000000000000000" pitchFamily="2" charset="2"/>
              </a:rPr>
              <a:t>’incidente stradale</a:t>
            </a:r>
            <a:r>
              <a:rPr lang="it-IT" dirty="0">
                <a:sym typeface="Wingdings" panose="05000000000000000000" pitchFamily="2" charset="2"/>
              </a:rPr>
              <a:t> viene definito come quell’evento in cui è coinvolto almeno un </a:t>
            </a:r>
            <a:r>
              <a:rPr lang="it-IT" b="1" dirty="0">
                <a:sym typeface="Wingdings" panose="05000000000000000000" pitchFamily="2" charset="2"/>
              </a:rPr>
              <a:t>veicolo</a:t>
            </a:r>
            <a:r>
              <a:rPr lang="it-IT" dirty="0">
                <a:sym typeface="Wingdings" panose="05000000000000000000" pitchFamily="2" charset="2"/>
              </a:rPr>
              <a:t> sulla rete stradale, verificatosi nelle vie o piazze aperte alla circolazione, che comporti </a:t>
            </a:r>
            <a:r>
              <a:rPr lang="it-IT" u="sng" dirty="0">
                <a:sym typeface="Wingdings" panose="05000000000000000000" pitchFamily="2" charset="2"/>
              </a:rPr>
              <a:t>lesioni a persone</a:t>
            </a:r>
            <a:r>
              <a:rPr lang="it-IT" dirty="0">
                <a:sym typeface="Wingdings" panose="05000000000000000000" pitchFamily="2" charset="2"/>
              </a:rPr>
              <a:t> (</a:t>
            </a:r>
            <a:r>
              <a:rPr lang="it-IT" b="1" dirty="0">
                <a:sym typeface="Wingdings" panose="05000000000000000000" pitchFamily="2" charset="2"/>
              </a:rPr>
              <a:t>morti entro 30 gg e/o feriti</a:t>
            </a:r>
            <a:r>
              <a:rPr lang="it-IT" dirty="0">
                <a:sym typeface="Wingdings" panose="05000000000000000000" pitchFamily="2" charset="2"/>
              </a:rPr>
              <a:t>» (ISTAT, 2026)</a:t>
            </a:r>
          </a:p>
          <a:p>
            <a:pPr marL="457200" lvl="2" indent="0">
              <a:buNone/>
            </a:pPr>
            <a:r>
              <a:rPr lang="it-IT" dirty="0">
                <a:sym typeface="Wingdings" panose="05000000000000000000" pitchFamily="2" charset="2"/>
              </a:rPr>
              <a:t>«Si intendono per </a:t>
            </a:r>
            <a:r>
              <a:rPr lang="it-IT" u="sng" dirty="0">
                <a:sym typeface="Wingdings" panose="05000000000000000000" pitchFamily="2" charset="2"/>
              </a:rPr>
              <a:t>veicolo</a:t>
            </a:r>
            <a:r>
              <a:rPr lang="it-IT" dirty="0">
                <a:sym typeface="Wingdings" panose="05000000000000000000" pitchFamily="2" charset="2"/>
              </a:rPr>
              <a:t> tutte le </a:t>
            </a:r>
            <a:r>
              <a:rPr lang="it-IT" b="1" dirty="0">
                <a:sym typeface="Wingdings" panose="05000000000000000000" pitchFamily="2" charset="2"/>
              </a:rPr>
              <a:t>macchine di qualsiasi specie</a:t>
            </a:r>
            <a:r>
              <a:rPr lang="it-IT" dirty="0">
                <a:sym typeface="Wingdings" panose="05000000000000000000" pitchFamily="2" charset="2"/>
              </a:rPr>
              <a:t>, indipendentemente dal tipo di </a:t>
            </a:r>
            <a:r>
              <a:rPr lang="it-IT" b="1" dirty="0">
                <a:sym typeface="Wingdings" panose="05000000000000000000" pitchFamily="2" charset="2"/>
              </a:rPr>
              <a:t>trazione</a:t>
            </a:r>
            <a:r>
              <a:rPr lang="it-IT" dirty="0">
                <a:sym typeface="Wingdings" panose="05000000000000000000" pitchFamily="2" charset="2"/>
              </a:rPr>
              <a:t> (a motore, senza motore, animale o a braccia), che circolano sulle strade guidate dall’uomo» </a:t>
            </a:r>
            <a:r>
              <a:rPr lang="it-IT" dirty="0"/>
              <a:t>(art. 46, D.Lgs. 30 aprile 1992, n. 285 - Codice della strada)</a:t>
            </a:r>
            <a:endParaRPr lang="it-IT" dirty="0">
              <a:sym typeface="Wingdings" panose="05000000000000000000" pitchFamily="2" charset="2"/>
            </a:endParaRPr>
          </a:p>
          <a:p>
            <a:pPr lvl="2"/>
            <a:r>
              <a:rPr lang="it-IT" u="sng" dirty="0">
                <a:sym typeface="Wingdings" panose="05000000000000000000" pitchFamily="2" charset="2"/>
              </a:rPr>
              <a:t>KILLINJ</a:t>
            </a:r>
            <a:r>
              <a:rPr lang="it-IT" dirty="0">
                <a:sym typeface="Wingdings" panose="05000000000000000000" pitchFamily="2" charset="2"/>
              </a:rPr>
              <a:t>: si riferisce ad una situazione in cui ci sono stati </a:t>
            </a:r>
            <a:r>
              <a:rPr lang="it-IT" b="1" dirty="0">
                <a:sym typeface="Wingdings" panose="05000000000000000000" pitchFamily="2" charset="2"/>
              </a:rPr>
              <a:t>morti e feriti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Result: </a:t>
            </a:r>
            <a:r>
              <a:rPr lang="it-IT" b="1" dirty="0">
                <a:sym typeface="Wingdings" panose="05000000000000000000" pitchFamily="2" charset="2"/>
              </a:rPr>
              <a:t>F: Ferito/Injured</a:t>
            </a:r>
            <a:r>
              <a:rPr lang="it-IT" dirty="0">
                <a:sym typeface="Wingdings" panose="05000000000000000000" pitchFamily="2" charset="2"/>
              </a:rPr>
              <a:t> – </a:t>
            </a:r>
            <a:r>
              <a:rPr lang="it-IT" b="1" dirty="0">
                <a:sym typeface="Wingdings" panose="05000000000000000000" pitchFamily="2" charset="2"/>
              </a:rPr>
              <a:t>M: Morti/Killed</a:t>
            </a:r>
            <a:r>
              <a:rPr lang="it-IT" dirty="0">
                <a:sym typeface="Wingdings" panose="05000000000000000000" pitchFamily="2" charset="2"/>
              </a:rPr>
              <a:t> – </a:t>
            </a:r>
            <a:r>
              <a:rPr lang="it-IT" b="1" dirty="0">
                <a:sym typeface="Wingdings" panose="05000000000000000000" pitchFamily="2" charset="2"/>
              </a:rPr>
              <a:t>9: Totale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Time_period: ho selezionato </a:t>
            </a:r>
            <a:r>
              <a:rPr lang="it-IT" b="1" dirty="0">
                <a:sym typeface="Wingdings" panose="05000000000000000000" pitchFamily="2" charset="2"/>
              </a:rPr>
              <a:t>4 anni</a:t>
            </a:r>
            <a:r>
              <a:rPr lang="it-IT" dirty="0">
                <a:sym typeface="Wingdings" panose="05000000000000000000" pitchFamily="2" charset="2"/>
              </a:rPr>
              <a:t>: 2021 – 2022 – 2023 – 2024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Obs_value: rappresenta i </a:t>
            </a:r>
            <a:r>
              <a:rPr lang="it-IT" b="1" dirty="0">
                <a:sym typeface="Wingdings" panose="05000000000000000000" pitchFamily="2" charset="2"/>
              </a:rPr>
              <a:t>valori osservati</a:t>
            </a:r>
            <a:r>
              <a:rPr lang="it-IT" dirty="0">
                <a:sym typeface="Wingdings" panose="05000000000000000000" pitchFamily="2" charset="2"/>
              </a:rPr>
              <a:t> in riguardo ad una situazione di ROADACC (9: totale di incidenti stradali con lesioni alle persone) oppure di KILLINJ (totale F/totale M)</a:t>
            </a:r>
          </a:p>
          <a:p>
            <a:r>
              <a:rPr lang="it-IT" b="1" dirty="0">
                <a:sym typeface="Wingdings" panose="05000000000000000000" pitchFamily="2" charset="2"/>
              </a:rPr>
              <a:t>Unioni</a:t>
            </a:r>
            <a:r>
              <a:rPr lang="it-IT" dirty="0">
                <a:sym typeface="Wingdings" panose="05000000000000000000" pitchFamily="2" charset="2"/>
              </a:rPr>
              <a:t>: </a:t>
            </a:r>
          </a:p>
          <a:p>
            <a:pPr lvl="1"/>
            <a:r>
              <a:rPr lang="it-IT" u="sng" dirty="0">
                <a:sym typeface="Wingdings" panose="05000000000000000000" pitchFamily="2" charset="2"/>
              </a:rPr>
              <a:t>Dataset annuali sui comuni</a:t>
            </a:r>
            <a:r>
              <a:rPr lang="it-IT" dirty="0">
                <a:sym typeface="Wingdings" panose="05000000000000000000" pitchFamily="2" charset="2"/>
              </a:rPr>
              <a:t> (da cui ho estratto: </a:t>
            </a:r>
            <a:r>
              <a:rPr lang="it-IT" b="1" dirty="0">
                <a:sym typeface="Wingdings" panose="05000000000000000000" pitchFamily="2" charset="2"/>
              </a:rPr>
              <a:t>Provincial code</a:t>
            </a:r>
            <a:r>
              <a:rPr lang="it-IT" dirty="0">
                <a:sym typeface="Wingdings" panose="05000000000000000000" pitchFamily="2" charset="2"/>
              </a:rPr>
              <a:t>, </a:t>
            </a:r>
            <a:r>
              <a:rPr lang="it-IT" b="1" dirty="0">
                <a:sym typeface="Wingdings" panose="05000000000000000000" pitchFamily="2" charset="2"/>
              </a:rPr>
              <a:t>Superficie (kmq)</a:t>
            </a:r>
            <a:r>
              <a:rPr lang="it-IT" dirty="0">
                <a:sym typeface="Wingdings" panose="05000000000000000000" pitchFamily="2" charset="2"/>
              </a:rPr>
              <a:t>, </a:t>
            </a:r>
            <a:r>
              <a:rPr lang="it-IT" b="1" dirty="0">
                <a:sym typeface="Wingdings" panose="05000000000000000000" pitchFamily="2" charset="2"/>
              </a:rPr>
              <a:t>Popolazione residente</a:t>
            </a:r>
            <a:r>
              <a:rPr lang="it-IT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it-IT" u="sng" dirty="0">
                <a:sym typeface="Wingdings" panose="05000000000000000000" pitchFamily="2" charset="2"/>
              </a:rPr>
              <a:t>Dataset comuni italiani</a:t>
            </a:r>
            <a:r>
              <a:rPr lang="it-IT" dirty="0">
                <a:sym typeface="Wingdings" panose="05000000000000000000" pitchFamily="2" charset="2"/>
              </a:rPr>
              <a:t> (da cui ho estratto: </a:t>
            </a:r>
            <a:r>
              <a:rPr lang="it-IT" b="1" dirty="0">
                <a:sym typeface="Wingdings" panose="05000000000000000000" pitchFamily="2" charset="2"/>
              </a:rPr>
              <a:t>Provincial name</a:t>
            </a:r>
            <a:r>
              <a:rPr lang="it-IT" dirty="0">
                <a:sym typeface="Wingdings" panose="05000000000000000000" pitchFamily="2" charset="2"/>
              </a:rPr>
              <a:t>, </a:t>
            </a:r>
            <a:r>
              <a:rPr lang="it-IT" b="1" dirty="0">
                <a:sym typeface="Wingdings" panose="05000000000000000000" pitchFamily="2" charset="2"/>
              </a:rPr>
              <a:t>Region name</a:t>
            </a:r>
            <a:r>
              <a:rPr lang="it-IT" dirty="0">
                <a:sym typeface="Wingdings" panose="05000000000000000000" pitchFamily="2" charset="2"/>
              </a:rPr>
              <a:t>, </a:t>
            </a:r>
            <a:r>
              <a:rPr lang="it-IT" b="1" dirty="0">
                <a:sym typeface="Wingdings" panose="05000000000000000000" pitchFamily="2" charset="2"/>
              </a:rPr>
              <a:t>Geo-</a:t>
            </a:r>
            <a:r>
              <a:rPr lang="it-IT" b="1" dirty="0" err="1">
                <a:sym typeface="Wingdings" panose="05000000000000000000" pitchFamily="2" charset="2"/>
              </a:rPr>
              <a:t>division</a:t>
            </a:r>
            <a:r>
              <a:rPr lang="it-IT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it-IT" b="1" dirty="0"/>
              <a:t>Veicoli - Pubblico registro automobilistico – comuni</a:t>
            </a:r>
          </a:p>
        </p:txBody>
      </p:sp>
      <p:pic>
        <p:nvPicPr>
          <p:cNvPr id="10" name="Segnaposto immagine 5">
            <a:extLst>
              <a:ext uri="{FF2B5EF4-FFF2-40B4-BE49-F238E27FC236}">
                <a16:creationId xmlns:a16="http://schemas.microsoft.com/office/drawing/2014/main" id="{5F54FA09-7684-8C39-24F0-298654F7F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</p:spTree>
    <p:extLst>
      <p:ext uri="{BB962C8B-B14F-4D97-AF65-F5344CB8AC3E}">
        <p14:creationId xmlns:p14="http://schemas.microsoft.com/office/powerpoint/2010/main" val="1460690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23">
            <a:extLst>
              <a:ext uri="{FF2B5EF4-FFF2-40B4-BE49-F238E27FC236}">
                <a16:creationId xmlns:a16="http://schemas.microsoft.com/office/drawing/2014/main" id="{A5D68029-3FB5-1A97-3A5F-1484C1DDBAF6}"/>
              </a:ext>
            </a:extLst>
          </p:cNvPr>
          <p:cNvSpPr txBox="1">
            <a:spLocks/>
          </p:cNvSpPr>
          <p:nvPr/>
        </p:nvSpPr>
        <p:spPr>
          <a:xfrm>
            <a:off x="551384" y="1247243"/>
            <a:ext cx="7776864" cy="218175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500" u="sng" dirty="0"/>
              <a:t>Variabile dipendente</a:t>
            </a:r>
            <a:r>
              <a:rPr lang="it-IT" sz="1500" dirty="0"/>
              <a:t>: </a:t>
            </a:r>
            <a:r>
              <a:rPr lang="it-IT" sz="1500" b="1" dirty="0"/>
              <a:t>Accidents: Road Accidents – ROADACC</a:t>
            </a:r>
          </a:p>
          <a:p>
            <a:r>
              <a:rPr lang="it-IT" sz="1500" u="sng" dirty="0"/>
              <a:t>Variabili indipendenti</a:t>
            </a:r>
            <a:r>
              <a:rPr lang="it-IT" sz="1500" b="1" dirty="0"/>
              <a:t>:</a:t>
            </a:r>
          </a:p>
          <a:p>
            <a:pPr lvl="1"/>
            <a:r>
              <a:rPr lang="it-IT" sz="1500" b="1" dirty="0"/>
              <a:t>Resident Population</a:t>
            </a:r>
            <a:r>
              <a:rPr lang="it-IT" sz="1500" dirty="0"/>
              <a:t>: è un dato dinamico che si aggiorna quotidianamente negli uffici anagrafe dei comuni sulla base delle registrazioni relative a nascite, decessi, iscrizioni e cancellazioni anagrafiche conseguenti ai trasferimenti di residenza.</a:t>
            </a:r>
          </a:p>
          <a:p>
            <a:pPr lvl="1"/>
            <a:r>
              <a:rPr lang="it-IT" sz="1500" b="1" dirty="0" err="1"/>
              <a:t>Square</a:t>
            </a:r>
            <a:r>
              <a:rPr lang="it-IT" sz="1500" b="1" dirty="0"/>
              <a:t> Kilometers</a:t>
            </a:r>
          </a:p>
          <a:p>
            <a:pPr lvl="1"/>
            <a:r>
              <a:rPr lang="it-IT" sz="1500" b="1" dirty="0"/>
              <a:t>Motorisation Rate</a:t>
            </a:r>
            <a:r>
              <a:rPr lang="it-IT" sz="1500" dirty="0"/>
              <a:t>: (</a:t>
            </a:r>
            <a:r>
              <a:rPr lang="it-IT" sz="1500" dirty="0" err="1"/>
              <a:t>Vehicles</a:t>
            </a:r>
            <a:r>
              <a:rPr lang="it-IT" sz="1500" dirty="0"/>
              <a:t> / </a:t>
            </a:r>
            <a:r>
              <a:rPr lang="it-IT" sz="1500" dirty="0" err="1"/>
              <a:t>Resident_population</a:t>
            </a:r>
            <a:r>
              <a:rPr lang="it-IT" sz="1500" dirty="0"/>
              <a:t>) * 1000</a:t>
            </a:r>
          </a:p>
          <a:p>
            <a:pPr lvl="1"/>
            <a:r>
              <a:rPr lang="it-IT" sz="1500" b="1" dirty="0"/>
              <a:t>Year</a:t>
            </a:r>
          </a:p>
        </p:txBody>
      </p:sp>
      <p:sp>
        <p:nvSpPr>
          <p:cNvPr id="6" name="Titolo 11">
            <a:extLst>
              <a:ext uri="{FF2B5EF4-FFF2-40B4-BE49-F238E27FC236}">
                <a16:creationId xmlns:a16="http://schemas.microsoft.com/office/drawing/2014/main" id="{E702EE94-EBEB-1592-7DBA-BBFDD093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534415"/>
            <a:ext cx="7488832" cy="707886"/>
          </a:xfrm>
        </p:spPr>
        <p:txBody>
          <a:bodyPr rtlCol="0"/>
          <a:lstStyle/>
          <a:p>
            <a:pPr rtl="0"/>
            <a:r>
              <a:rPr lang="it-IT" dirty="0">
                <a:solidFill>
                  <a:srgbClr val="FF0000"/>
                </a:solidFill>
              </a:rPr>
              <a:t>MODELLO DI REGRESSIONE LINEARE MULTIPLA</a:t>
            </a: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3BCC474D-8134-979F-1DAB-28FCF77F4881}"/>
              </a:ext>
            </a:extLst>
          </p:cNvPr>
          <p:cNvSpPr/>
          <p:nvPr/>
        </p:nvSpPr>
        <p:spPr>
          <a:xfrm>
            <a:off x="8229883" y="2266124"/>
            <a:ext cx="3410733" cy="102485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chemeClr val="tx1"/>
                </a:solidFill>
              </a:rPr>
              <a:t>R-squared = 0,948</a:t>
            </a:r>
            <a:endParaRPr lang="it-IT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0AEBB64-DDCB-1391-5E80-D724143E3A64}"/>
                  </a:ext>
                </a:extLst>
              </p:cNvPr>
              <p:cNvSpPr txBox="1"/>
              <p:nvPr/>
            </p:nvSpPr>
            <p:spPr>
              <a:xfrm>
                <a:off x="5879976" y="3404169"/>
                <a:ext cx="6246755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it-IT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it-IT" sz="2000" b="1" dirty="0"/>
                  <a:t> </a:t>
                </a:r>
                <a:r>
                  <a:rPr lang="it-IT" sz="2000" b="1" dirty="0">
                    <a:sym typeface="Wingdings" panose="05000000000000000000" pitchFamily="2" charset="2"/>
                  </a:rPr>
                  <a:t> </a:t>
                </a:r>
                <a:r>
                  <a:rPr lang="it-IT" sz="2000" b="1" dirty="0"/>
                  <a:t>1.000 residenti in più </a:t>
                </a:r>
                <a:r>
                  <a:rPr lang="it-IT" sz="2000" dirty="0"/>
                  <a:t>sono associati a circa </a:t>
                </a:r>
                <a:r>
                  <a:rPr lang="it-IT" sz="2000" b="1" dirty="0"/>
                  <a:t>4,6 incidenti in più</a:t>
                </a:r>
                <a:r>
                  <a:rPr lang="it-IT" sz="2000" dirty="0"/>
                  <a:t> (0,0046 × 1.000 = 4,6).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it-IT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it-IT" sz="2000" dirty="0"/>
                  <a:t> </a:t>
                </a:r>
                <a:r>
                  <a:rPr lang="it-IT" sz="2000" dirty="0">
                    <a:sym typeface="Wingdings" panose="05000000000000000000" pitchFamily="2" charset="2"/>
                  </a:rPr>
                  <a:t> </a:t>
                </a:r>
                <a:r>
                  <a:rPr lang="it-IT" sz="2000" dirty="0"/>
                  <a:t>comuni </a:t>
                </a:r>
                <a:r>
                  <a:rPr lang="it-IT" sz="2000" b="1" dirty="0"/>
                  <a:t>più estesi</a:t>
                </a:r>
                <a:r>
                  <a:rPr lang="it-IT" sz="2000" dirty="0"/>
                  <a:t> tendono ad avere leggermente </a:t>
                </a:r>
                <a:r>
                  <a:rPr lang="it-IT" sz="2000" b="1" dirty="0"/>
                  <a:t>meno incidenti</a:t>
                </a:r>
                <a:r>
                  <a:rPr lang="it-IT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it-IT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it-IT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000" dirty="0">
                    <a:sym typeface="Wingdings" panose="05000000000000000000" pitchFamily="2" charset="2"/>
                  </a:rPr>
                  <a:t> </a:t>
                </a:r>
                <a:r>
                  <a:rPr lang="it-IT" sz="2000" dirty="0"/>
                  <a:t>un aumento di </a:t>
                </a:r>
                <a:r>
                  <a:rPr lang="it-IT" sz="2000" b="1" dirty="0"/>
                  <a:t>1 veicolo ogni 1.000 abitanti</a:t>
                </a:r>
                <a:r>
                  <a:rPr lang="it-IT" sz="2000" dirty="0"/>
                  <a:t> è associato, in media, a un incremento di </a:t>
                </a:r>
                <a:r>
                  <a:rPr lang="it-IT" sz="2000" b="1" dirty="0"/>
                  <a:t>0,0215 incidenti</a:t>
                </a:r>
                <a:r>
                  <a:rPr lang="it-IT" sz="2000" dirty="0"/>
                  <a:t>. Un incremento di </a:t>
                </a:r>
                <a:r>
                  <a:rPr lang="it-IT" sz="2000" b="1" dirty="0"/>
                  <a:t>100 punti</a:t>
                </a:r>
                <a:r>
                  <a:rPr lang="it-IT" sz="2000" dirty="0"/>
                  <a:t> del tasso di motorizzazione, ad esempio da 800 a 900 </a:t>
                </a:r>
                <a:r>
                  <a:rPr lang="it-IT" sz="2000" b="1" dirty="0"/>
                  <a:t>veicoli ogni 1.000 abitanti, </a:t>
                </a:r>
                <a:r>
                  <a:rPr lang="it-IT" sz="2000" dirty="0"/>
                  <a:t> è associato a circa </a:t>
                </a:r>
                <a:r>
                  <a:rPr lang="it-IT" sz="2000" b="1" dirty="0"/>
                  <a:t>2,15 incidenti aggiuntivi</a:t>
                </a:r>
                <a:r>
                  <a:rPr lang="it-IT" sz="20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it-IT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it-IT" sz="2000" dirty="0"/>
                  <a:t> </a:t>
                </a:r>
                <a:r>
                  <a:rPr lang="it-IT" sz="2000" dirty="0">
                    <a:sym typeface="Wingdings" panose="05000000000000000000" pitchFamily="2" charset="2"/>
                  </a:rPr>
                  <a:t> </a:t>
                </a:r>
                <a:r>
                  <a:rPr lang="it-IT" sz="2000" dirty="0"/>
                  <a:t>il passaggio da un anno al successivo è associato a una diminuzione media di </a:t>
                </a:r>
                <a:r>
                  <a:rPr lang="it-IT" sz="2000" b="1" dirty="0"/>
                  <a:t>0,13 incidenti</a:t>
                </a:r>
                <a:r>
                  <a:rPr lang="it-IT" sz="2000" dirty="0"/>
                  <a:t>.</a:t>
                </a: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0AEBB64-DDCB-1391-5E80-D724143E3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76" y="3404169"/>
                <a:ext cx="6246755" cy="3477875"/>
              </a:xfrm>
              <a:prstGeom prst="rect">
                <a:avLst/>
              </a:prstGeom>
              <a:blipFill>
                <a:blip r:embed="rId3"/>
                <a:stretch>
                  <a:fillRect l="-879" t="-876" r="-1172" b="-210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FAFE8205-ACD1-0AF5-7603-BECE3F3C9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032851"/>
              </p:ext>
            </p:extLst>
          </p:nvPr>
        </p:nvGraphicFramePr>
        <p:xfrm>
          <a:off x="551384" y="3453831"/>
          <a:ext cx="5040561" cy="338103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80187">
                  <a:extLst>
                    <a:ext uri="{9D8B030D-6E8A-4147-A177-3AD203B41FA5}">
                      <a16:colId xmlns:a16="http://schemas.microsoft.com/office/drawing/2014/main" val="3698606507"/>
                    </a:ext>
                  </a:extLst>
                </a:gridCol>
                <a:gridCol w="1680187">
                  <a:extLst>
                    <a:ext uri="{9D8B030D-6E8A-4147-A177-3AD203B41FA5}">
                      <a16:colId xmlns:a16="http://schemas.microsoft.com/office/drawing/2014/main" val="1706290815"/>
                    </a:ext>
                  </a:extLst>
                </a:gridCol>
                <a:gridCol w="1680187">
                  <a:extLst>
                    <a:ext uri="{9D8B030D-6E8A-4147-A177-3AD203B41FA5}">
                      <a16:colId xmlns:a16="http://schemas.microsoft.com/office/drawing/2014/main" val="1024853618"/>
                    </a:ext>
                  </a:extLst>
                </a:gridCol>
              </a:tblGrid>
              <a:tr h="64696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br>
                        <a:rPr lang="it-IT" b="0" dirty="0">
                          <a:effectLst/>
                        </a:rPr>
                      </a:br>
                      <a:endParaRPr lang="it-IT" b="0" dirty="0">
                        <a:effectLst/>
                      </a:endParaRP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b="0" dirty="0">
                          <a:effectLst/>
                        </a:rPr>
                        <a:t>coef</a:t>
                      </a: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b="0" dirty="0">
                          <a:effectLst/>
                        </a:rPr>
                        <a:t>P&gt;|t|</a:t>
                      </a: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128721535"/>
                  </a:ext>
                </a:extLst>
              </a:tr>
              <a:tr h="4857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t-IT" b="0" dirty="0">
                          <a:effectLst/>
                        </a:rPr>
                        <a:t>const</a:t>
                      </a: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-288.1775</a:t>
                      </a: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0.565</a:t>
                      </a: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3371810757"/>
                  </a:ext>
                </a:extLst>
              </a:tr>
              <a:tr h="64696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t-IT" b="0" dirty="0">
                          <a:effectLst/>
                        </a:rPr>
                        <a:t>Resident Population</a:t>
                      </a: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effectLst/>
                        </a:rPr>
                        <a:t>0.0046</a:t>
                      </a: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0.000</a:t>
                      </a: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3690639679"/>
                  </a:ext>
                </a:extLst>
              </a:tr>
              <a:tr h="62997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t-IT" b="0" dirty="0">
                          <a:effectLst/>
                        </a:rPr>
                        <a:t>Square Kilometers</a:t>
                      </a: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-0.1051</a:t>
                      </a: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0.000</a:t>
                      </a: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544187532"/>
                  </a:ext>
                </a:extLst>
              </a:tr>
              <a:tr h="4857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t-IT" b="0" dirty="0">
                          <a:effectLst/>
                        </a:rPr>
                        <a:t>Motorisation Rate</a:t>
                      </a: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effectLst/>
                        </a:rPr>
                        <a:t>0.0215</a:t>
                      </a: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effectLst/>
                        </a:rPr>
                        <a:t>0.000</a:t>
                      </a: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3949568112"/>
                  </a:ext>
                </a:extLst>
              </a:tr>
              <a:tr h="4857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it-IT" b="0" dirty="0">
                          <a:effectLst/>
                        </a:rPr>
                        <a:t>Year</a:t>
                      </a: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>
                          <a:effectLst/>
                        </a:rPr>
                        <a:t>0.1274</a:t>
                      </a:r>
                    </a:p>
                  </a:txBody>
                  <a:tcPr marL="38100" marR="3810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>
                          <a:effectLst/>
                        </a:rPr>
                        <a:t>0.607</a:t>
                      </a:r>
                    </a:p>
                  </a:txBody>
                  <a:tcPr marL="38100" marR="38100" marT="19050" marB="19050" anchor="ctr"/>
                </a:tc>
                <a:extLst>
                  <a:ext uri="{0D108BD9-81ED-4DB2-BD59-A6C34878D82A}">
                    <a16:rowId xmlns:a16="http://schemas.microsoft.com/office/drawing/2014/main" val="184202065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9E46CFE2-5353-C29F-D864-2DAA49C2048E}"/>
                  </a:ext>
                </a:extLst>
              </p:cNvPr>
              <p:cNvSpPr txBox="1"/>
              <p:nvPr/>
            </p:nvSpPr>
            <p:spPr>
              <a:xfrm>
                <a:off x="8230197" y="1258930"/>
                <a:ext cx="165618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it-IT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sz="2400" dirty="0"/>
                  <a:t> = 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it-IT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it-IT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14:m>
                  <m:oMath xmlns:m="http://schemas.openxmlformats.org/officeDocument/2006/math">
                    <m:r>
                      <a:rPr lang="it-IT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it-IT" sz="2400" dirty="0"/>
                  <a:t> 0</a:t>
                </a:r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9E46CFE2-5353-C29F-D864-2DAA49C20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0197" y="1258930"/>
                <a:ext cx="1656184" cy="830997"/>
              </a:xfrm>
              <a:prstGeom prst="rect">
                <a:avLst/>
              </a:prstGeom>
              <a:blipFill>
                <a:blip r:embed="rId4"/>
                <a:stretch>
                  <a:fillRect l="-735" t="-5882" b="-161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642EC835-C19B-E294-939B-8258FA9660FB}"/>
                  </a:ext>
                </a:extLst>
              </p:cNvPr>
              <p:cNvSpPr txBox="1"/>
              <p:nvPr/>
            </p:nvSpPr>
            <p:spPr>
              <a:xfrm>
                <a:off x="10488488" y="1445047"/>
                <a:ext cx="13304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it-IT" sz="2400" dirty="0"/>
                  <a:t> = 0,05</a:t>
                </a:r>
              </a:p>
            </p:txBody>
          </p:sp>
        </mc:Choice>
        <mc:Fallback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642EC835-C19B-E294-939B-8258FA966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8488" y="1445047"/>
                <a:ext cx="1330492" cy="461665"/>
              </a:xfrm>
              <a:prstGeom prst="rect">
                <a:avLst/>
              </a:prstGeom>
              <a:blipFill>
                <a:blip r:embed="rId5"/>
                <a:stretch>
                  <a:fillRect t="-10526" r="-6422" b="-2894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Segnaposto immagine 5">
            <a:extLst>
              <a:ext uri="{FF2B5EF4-FFF2-40B4-BE49-F238E27FC236}">
                <a16:creationId xmlns:a16="http://schemas.microsoft.com/office/drawing/2014/main" id="{A416CC04-BF1C-D8A5-163F-DDC76557B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6508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29AE7-0655-5F02-782E-359EDC782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1">
            <a:extLst>
              <a:ext uri="{FF2B5EF4-FFF2-40B4-BE49-F238E27FC236}">
                <a16:creationId xmlns:a16="http://schemas.microsoft.com/office/drawing/2014/main" id="{BEBA7980-0085-46D2-DBD0-FA40968E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54654"/>
            <a:ext cx="10805160" cy="707886"/>
          </a:xfrm>
        </p:spPr>
        <p:txBody>
          <a:bodyPr rtlCol="0">
            <a:normAutofit/>
          </a:bodyPr>
          <a:lstStyle/>
          <a:p>
            <a:pPr rtl="0"/>
            <a:r>
              <a:rPr lang="it-IT" dirty="0">
                <a:solidFill>
                  <a:srgbClr val="FF0000"/>
                </a:solidFill>
              </a:rPr>
              <a:t>INDIVIDUAZIONE DELLE CITTÀ E LE AREE DI INTERESSE</a:t>
            </a:r>
          </a:p>
        </p:txBody>
      </p:sp>
      <p:pic>
        <p:nvPicPr>
          <p:cNvPr id="10" name="Segnaposto immagine 5">
            <a:extLst>
              <a:ext uri="{FF2B5EF4-FFF2-40B4-BE49-F238E27FC236}">
                <a16:creationId xmlns:a16="http://schemas.microsoft.com/office/drawing/2014/main" id="{853B9762-262B-CE27-50F2-4867FD7FF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74BA60E-0A20-00C3-DE28-023D54D4F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1" y="3426974"/>
            <a:ext cx="11380007" cy="1656184"/>
          </a:xfrm>
          <a:prstGeom prst="rect">
            <a:avLst/>
          </a:prstGeom>
        </p:spPr>
      </p:pic>
      <p:pic>
        <p:nvPicPr>
          <p:cNvPr id="13" name="Immagine 12" descr="Immagine che contiene testo, Carattere, numero, linea&#10;&#10;Il contenuto generato dall'IA potrebbe non essere corretto.">
            <a:extLst>
              <a:ext uri="{FF2B5EF4-FFF2-40B4-BE49-F238E27FC236}">
                <a16:creationId xmlns:a16="http://schemas.microsoft.com/office/drawing/2014/main" id="{E057E5B1-C9F0-CAA2-86A6-8F41FFAE91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73216"/>
            <a:ext cx="11380007" cy="1168460"/>
          </a:xfrm>
          <a:prstGeom prst="rect">
            <a:avLst/>
          </a:prstGeom>
        </p:spPr>
      </p:pic>
      <p:pic>
        <p:nvPicPr>
          <p:cNvPr id="16" name="Immagine 15" descr="Immagine che contiene testo, numero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70157FA6-920E-4F46-FAAA-1512EA27C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1" y="1528521"/>
            <a:ext cx="11380006" cy="1587582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3B1FC46-2E5B-C4CD-3873-7AEC6F809A8A}"/>
              </a:ext>
            </a:extLst>
          </p:cNvPr>
          <p:cNvSpPr/>
          <p:nvPr/>
        </p:nvSpPr>
        <p:spPr>
          <a:xfrm>
            <a:off x="7392144" y="1528522"/>
            <a:ext cx="1152128" cy="15875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419D4CF-B068-2E55-57FC-02FBA65FB728}"/>
              </a:ext>
            </a:extLst>
          </p:cNvPr>
          <p:cNvSpPr/>
          <p:nvPr/>
        </p:nvSpPr>
        <p:spPr>
          <a:xfrm>
            <a:off x="5994628" y="3407232"/>
            <a:ext cx="1109484" cy="16561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FD322E6-55B4-CE83-AF2B-28A98EC7DA08}"/>
              </a:ext>
            </a:extLst>
          </p:cNvPr>
          <p:cNvSpPr/>
          <p:nvPr/>
        </p:nvSpPr>
        <p:spPr>
          <a:xfrm>
            <a:off x="6348028" y="5373216"/>
            <a:ext cx="3564396" cy="11684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848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01451-9CDC-2254-8E73-18326C39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1">
            <a:extLst>
              <a:ext uri="{FF2B5EF4-FFF2-40B4-BE49-F238E27FC236}">
                <a16:creationId xmlns:a16="http://schemas.microsoft.com/office/drawing/2014/main" id="{8CD398FF-CF2A-2727-5736-36A17505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54654"/>
            <a:ext cx="10805160" cy="707886"/>
          </a:xfrm>
        </p:spPr>
        <p:txBody>
          <a:bodyPr rtlCol="0"/>
          <a:lstStyle/>
          <a:p>
            <a:pPr rtl="0"/>
            <a:r>
              <a:rPr lang="it-IT" dirty="0">
                <a:solidFill>
                  <a:srgbClr val="FF0000"/>
                </a:solidFill>
              </a:rPr>
              <a:t>INDIVIDUAZIONE DELLE CITTA’ E LE AREE DI INTERESSE</a:t>
            </a:r>
          </a:p>
        </p:txBody>
      </p:sp>
      <p:pic>
        <p:nvPicPr>
          <p:cNvPr id="10" name="Segnaposto immagine 5">
            <a:extLst>
              <a:ext uri="{FF2B5EF4-FFF2-40B4-BE49-F238E27FC236}">
                <a16:creationId xmlns:a16="http://schemas.microsoft.com/office/drawing/2014/main" id="{CB0730CC-4BAA-63E2-0F0F-0ED87BC08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pic>
        <p:nvPicPr>
          <p:cNvPr id="9" name="Immagine 8" descr="Immagine che contiene testo, schermata, numero, Parallelo&#10;&#10;Il contenuto generato dall'IA potrebbe non essere corretto.">
            <a:extLst>
              <a:ext uri="{FF2B5EF4-FFF2-40B4-BE49-F238E27FC236}">
                <a16:creationId xmlns:a16="http://schemas.microsoft.com/office/drawing/2014/main" id="{F715FC84-024D-FB0D-03B0-13742E71A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9994"/>
            <a:ext cx="10805160" cy="4643352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403ABF7D-A09E-C4CE-360D-9081A66127B9}"/>
              </a:ext>
            </a:extLst>
          </p:cNvPr>
          <p:cNvSpPr/>
          <p:nvPr/>
        </p:nvSpPr>
        <p:spPr>
          <a:xfrm>
            <a:off x="6089249" y="1541280"/>
            <a:ext cx="936104" cy="46620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6AD4BAB-3BCB-1220-BF90-010DB303BCB8}"/>
              </a:ext>
            </a:extLst>
          </p:cNvPr>
          <p:cNvSpPr/>
          <p:nvPr/>
        </p:nvSpPr>
        <p:spPr>
          <a:xfrm>
            <a:off x="7025353" y="1541280"/>
            <a:ext cx="1086871" cy="1311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73A89B8-AF9C-DB23-5892-D3268541D3C5}"/>
              </a:ext>
            </a:extLst>
          </p:cNvPr>
          <p:cNvSpPr/>
          <p:nvPr/>
        </p:nvSpPr>
        <p:spPr>
          <a:xfrm>
            <a:off x="8112224" y="1541280"/>
            <a:ext cx="1368152" cy="46433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5221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06554-6A7F-2025-3477-204EEC9C4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1">
            <a:extLst>
              <a:ext uri="{FF2B5EF4-FFF2-40B4-BE49-F238E27FC236}">
                <a16:creationId xmlns:a16="http://schemas.microsoft.com/office/drawing/2014/main" id="{6A3BD8CA-42A5-2D96-7EF9-8F71AB375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54654"/>
            <a:ext cx="10805160" cy="707886"/>
          </a:xfrm>
        </p:spPr>
        <p:txBody>
          <a:bodyPr rtlCol="0"/>
          <a:lstStyle/>
          <a:p>
            <a:pPr rtl="0"/>
            <a:r>
              <a:rPr lang="it-IT">
                <a:solidFill>
                  <a:srgbClr val="FF0000"/>
                </a:solidFill>
              </a:rPr>
              <a:t>CONCLUSIONI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10" name="Segnaposto immagine 5">
            <a:extLst>
              <a:ext uri="{FF2B5EF4-FFF2-40B4-BE49-F238E27FC236}">
                <a16:creationId xmlns:a16="http://schemas.microsoft.com/office/drawing/2014/main" id="{B1EDBF15-07FE-97F8-1A03-569B35E2A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Segnaposto contenuto 12">
                <a:extLst>
                  <a:ext uri="{FF2B5EF4-FFF2-40B4-BE49-F238E27FC236}">
                    <a16:creationId xmlns:a16="http://schemas.microsoft.com/office/drawing/2014/main" id="{1B28D5A8-7355-EEAD-0DD4-B8321884412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48640" y="1412776"/>
                <a:ext cx="11452016" cy="5445224"/>
              </a:xfrm>
            </p:spPr>
            <p:txBody>
              <a:bodyPr rtlCol="0">
                <a:noAutofit/>
              </a:bodyPr>
              <a:lstStyle/>
              <a:p>
                <a:r>
                  <a:rPr lang="it-IT" sz="1600" dirty="0">
                    <a:sym typeface="Wingdings" panose="05000000000000000000" pitchFamily="2" charset="2"/>
                  </a:rPr>
                  <a:t>Le analisi descrittive </a:t>
                </a:r>
                <a:r>
                  <a:rPr lang="it-IT" sz="1600" dirty="0"/>
                  <a:t>mostrano che </a:t>
                </a:r>
                <a:r>
                  <a:rPr lang="it-IT" sz="1600" b="1" dirty="0"/>
                  <a:t>Milano</a:t>
                </a:r>
                <a:r>
                  <a:rPr lang="it-IT" sz="1600" dirty="0"/>
                  <a:t> rappresenta il </a:t>
                </a:r>
                <a:r>
                  <a:rPr lang="it-IT" sz="1600" u="sng" dirty="0"/>
                  <a:t>comune prioritario</a:t>
                </a:r>
                <a:r>
                  <a:rPr lang="it-IT" sz="1600" dirty="0"/>
                  <a:t> per eventuali interventi, poiché registra contemporaneamente un </a:t>
                </a:r>
                <a:r>
                  <a:rPr lang="it-IT" sz="1600" u="sng" dirty="0"/>
                  <a:t>elevato numero di incidenti</a:t>
                </a:r>
                <a:r>
                  <a:rPr lang="it-IT" sz="1600" dirty="0"/>
                  <a:t> (7,7 k media annuale) e la </a:t>
                </a:r>
                <a:r>
                  <a:rPr lang="it-IT" sz="1600" u="sng" dirty="0">
                    <a:effectLst/>
                  </a:rPr>
                  <a:t>maggiore concentrazione di incidenti </a:t>
                </a:r>
                <a:br>
                  <a:rPr lang="it-IT" sz="1600" u="sng" dirty="0">
                    <a:effectLst/>
                  </a:rPr>
                </a:br>
                <a:r>
                  <a:rPr lang="it-IT" sz="1600" u="sng" dirty="0">
                    <a:effectLst/>
                  </a:rPr>
                  <a:t>per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600" i="1" u="sng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 b="0" i="1" u="sng">
                            <a:effectLst/>
                            <a:latin typeface="Cambria Math" panose="02040503050406030204" pitchFamily="18" charset="0"/>
                          </a:rPr>
                          <m:t>𝑘𝑚</m:t>
                        </m:r>
                      </m:e>
                      <m:sup>
                        <m:r>
                          <a:rPr lang="it-IT" sz="1600" b="0" i="1" u="sng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sz="1600" dirty="0"/>
                  <a:t> (42 – media annuale).</a:t>
                </a:r>
                <a:br>
                  <a:rPr lang="it-IT" sz="1600" dirty="0"/>
                </a:br>
                <a:r>
                  <a:rPr lang="it-IT" sz="1600" dirty="0"/>
                  <a:t>Si aggiunge </a:t>
                </a:r>
                <a:r>
                  <a:rPr lang="it-IT" sz="1600" b="1" dirty="0"/>
                  <a:t>Bergamo</a:t>
                </a:r>
                <a:r>
                  <a:rPr lang="it-IT" sz="1600" dirty="0"/>
                  <a:t> che evidenzia il </a:t>
                </a:r>
                <a:r>
                  <a:rPr lang="it-IT" sz="1600" u="sng" dirty="0"/>
                  <a:t>più alto tasso di incidenti ogni 1000 abitanti</a:t>
                </a:r>
                <a:r>
                  <a:rPr lang="it-IT" sz="1600" dirty="0"/>
                  <a:t> (7,4 m. a.) e il </a:t>
                </a:r>
                <a:r>
                  <a:rPr lang="it-IT" sz="1600" u="sng" dirty="0"/>
                  <a:t>più alto tasso di incidenti ogni 1000 veicoli</a:t>
                </a:r>
                <a:r>
                  <a:rPr lang="it-IT" sz="1600" dirty="0"/>
                  <a:t> (8,5 m. a).</a:t>
                </a:r>
                <a:br>
                  <a:rPr lang="it-IT" sz="1600" dirty="0"/>
                </a:br>
                <a:r>
                  <a:rPr lang="it-IT" sz="1600" dirty="0"/>
                  <a:t>Risultano nelle prime posizioni, dei tre principali indici, le città di </a:t>
                </a:r>
                <a:r>
                  <a:rPr lang="it-IT" sz="1600" b="1" dirty="0"/>
                  <a:t>Genova</a:t>
                </a:r>
                <a:r>
                  <a:rPr lang="it-IT" sz="1600" dirty="0"/>
                  <a:t>, </a:t>
                </a:r>
                <a:r>
                  <a:rPr lang="it-IT" sz="1600" b="1" dirty="0"/>
                  <a:t>Firenze</a:t>
                </a:r>
                <a:r>
                  <a:rPr lang="it-IT" sz="1600" dirty="0"/>
                  <a:t> e </a:t>
                </a:r>
                <a:r>
                  <a:rPr lang="it-IT" sz="1600" b="1" dirty="0"/>
                  <a:t>Pisa</a:t>
                </a:r>
                <a:r>
                  <a:rPr lang="it-IT" sz="1600" dirty="0"/>
                  <a:t>, senza tralasciare le città di </a:t>
                </a:r>
                <a:r>
                  <a:rPr lang="it-IT" sz="1600" b="1" dirty="0"/>
                  <a:t>Bologna</a:t>
                </a:r>
                <a:r>
                  <a:rPr lang="it-IT" sz="1600" dirty="0"/>
                  <a:t>, </a:t>
                </a:r>
                <a:r>
                  <a:rPr lang="it-IT" sz="1600" b="1" dirty="0"/>
                  <a:t>Torino</a:t>
                </a:r>
                <a:r>
                  <a:rPr lang="it-IT" sz="1600" dirty="0"/>
                  <a:t>, </a:t>
                </a:r>
                <a:r>
                  <a:rPr lang="it-IT" sz="1600" b="1" dirty="0"/>
                  <a:t>Napoli</a:t>
                </a:r>
                <a:r>
                  <a:rPr lang="it-IT" sz="1600" dirty="0"/>
                  <a:t> e </a:t>
                </a:r>
                <a:r>
                  <a:rPr lang="it-IT" sz="1600" b="1" dirty="0"/>
                  <a:t>Monza</a:t>
                </a:r>
                <a:r>
                  <a:rPr lang="it-IT" sz="1600" dirty="0"/>
                  <a:t>.</a:t>
                </a:r>
                <a:br>
                  <a:rPr lang="it-IT" sz="1600" dirty="0"/>
                </a:br>
                <a:r>
                  <a:rPr lang="it-IT" sz="1600" dirty="0"/>
                  <a:t>Interessante, come visto nei grafici precedenti, è la </a:t>
                </a:r>
                <a:r>
                  <a:rPr lang="it-IT" sz="1600" b="1" dirty="0"/>
                  <a:t>provincia di Milano</a:t>
                </a:r>
                <a:r>
                  <a:rPr lang="it-IT" sz="1600" dirty="0"/>
                  <a:t> con tante città che presentano indici molto elevati, pur essendo non grandi città; la </a:t>
                </a:r>
                <a:r>
                  <a:rPr lang="it-IT" sz="1600" b="1" dirty="0"/>
                  <a:t>regione Toscana</a:t>
                </a:r>
                <a:r>
                  <a:rPr lang="it-IT" sz="1600" dirty="0"/>
                  <a:t>; e, infine, diverse </a:t>
                </a:r>
                <a:r>
                  <a:rPr lang="it-IT" sz="1600" b="1" dirty="0"/>
                  <a:t>località</a:t>
                </a:r>
                <a:r>
                  <a:rPr lang="it-IT" sz="1600" dirty="0"/>
                  <a:t> soprattutto </a:t>
                </a:r>
                <a:r>
                  <a:rPr lang="it-IT" sz="1600" b="1" dirty="0"/>
                  <a:t>balneari/costiere</a:t>
                </a:r>
                <a:r>
                  <a:rPr lang="it-IT" sz="1600" dirty="0"/>
                  <a:t>.</a:t>
                </a:r>
              </a:p>
              <a:p>
                <a:r>
                  <a:rPr lang="it-IT" sz="1600" dirty="0"/>
                  <a:t>Il </a:t>
                </a:r>
                <a:r>
                  <a:rPr lang="it-IT" sz="1600" u="sng" dirty="0"/>
                  <a:t>modello di regressione lineare multipla</a:t>
                </a:r>
                <a:r>
                  <a:rPr lang="it-IT" sz="1600" dirty="0"/>
                  <a:t> ha evidenziato </a:t>
                </a:r>
                <a:r>
                  <a:rPr lang="it-IT" sz="1600" b="1" dirty="0"/>
                  <a:t>un'elevata capacità esplicativa</a:t>
                </a:r>
                <a:r>
                  <a:rPr lang="it-IT" sz="1600" dirty="0"/>
                  <a:t> (</a:t>
                </a:r>
                <a:r>
                  <a:rPr lang="it-IT" sz="1600" b="1" dirty="0"/>
                  <a:t>R² = 0,948</a:t>
                </a:r>
                <a:r>
                  <a:rPr lang="it-IT" sz="1600" dirty="0"/>
                  <a:t>), mostrando come la popolazione residente e il tasso di motorizzazione siano positivamente associati al numero di incidenti, mentre una maggiore estensione territoriale sia associata a una minore concentrazione degli stessi.</a:t>
                </a:r>
              </a:p>
              <a:p>
                <a:r>
                  <a:rPr lang="it-IT" sz="1600" dirty="0"/>
                  <a:t>Le </a:t>
                </a:r>
                <a:r>
                  <a:rPr lang="it-IT" sz="1600" u="sng" dirty="0"/>
                  <a:t>analisi di clustering</a:t>
                </a:r>
                <a:r>
                  <a:rPr lang="it-IT" sz="1600" dirty="0"/>
                  <a:t> hanno inoltre consentito di raggruppare i comuni in:</a:t>
                </a:r>
              </a:p>
              <a:p>
                <a:pPr lvl="1"/>
                <a:r>
                  <a:rPr lang="it-IT" sz="1600" b="1" dirty="0" err="1"/>
                  <a:t>avg_pop_density</a:t>
                </a:r>
                <a:r>
                  <a:rPr lang="it-IT" sz="1600" b="1" dirty="0"/>
                  <a:t> - avg_acc_per_</a:t>
                </a:r>
                <a:r>
                  <a:rPr lang="it-IT" sz="1600" b="1" i="1" dirty="0"/>
                  <a:t>km2</a:t>
                </a:r>
                <a:r>
                  <a:rPr lang="it-IT" sz="1600" i="1" dirty="0"/>
                  <a:t>:</a:t>
                </a:r>
                <a:br>
                  <a:rPr lang="it-IT" sz="1600" i="1" dirty="0"/>
                </a:br>
                <a:r>
                  <a:rPr lang="it-IT" sz="1600" dirty="0"/>
                  <a:t>Classi caratterizzate da </a:t>
                </a:r>
                <a:r>
                  <a:rPr lang="it-IT" sz="1600" b="1" dirty="0"/>
                  <a:t>differenti livelli di densità urbana e incidentalità</a:t>
                </a:r>
                <a:r>
                  <a:rPr lang="it-IT" sz="1600" dirty="0"/>
                  <a:t>, distinguendo progressivamente </a:t>
                </a:r>
                <a:r>
                  <a:rPr lang="it-IT" sz="1600" u="sng" dirty="0"/>
                  <a:t>i piccoli comuni a bassa densità e bassa incidentalità</a:t>
                </a:r>
                <a:r>
                  <a:rPr lang="it-IT" sz="1600" dirty="0"/>
                  <a:t> dai </a:t>
                </a:r>
                <a:r>
                  <a:rPr lang="it-IT" sz="1600" u="sng" dirty="0"/>
                  <a:t>comuni più urbanizzati e metropolitani</a:t>
                </a:r>
                <a:r>
                  <a:rPr lang="it-IT" sz="1600" dirty="0"/>
                  <a:t>, caratterizzati da una maggiore densità abitativa e da un'elevata concentrazione di incidenti. Pur non evidenziando cluster perfettamente separati, questa analisi costituisce un utile supporto per la segmentazione del territorio e la definizione di strategie di intervento mirate.</a:t>
                </a:r>
              </a:p>
              <a:p>
                <a:pPr lvl="1"/>
                <a:r>
                  <a:rPr lang="it-IT" sz="1600" b="1" dirty="0"/>
                  <a:t>avg_acc_per_1000 - </a:t>
                </a:r>
                <a:r>
                  <a:rPr lang="it-IT" sz="1600" b="1" dirty="0" err="1"/>
                  <a:t>avg_acc_rate_vehicles</a:t>
                </a:r>
                <a:r>
                  <a:rPr lang="it-IT" sz="1600" dirty="0"/>
                  <a:t>:</a:t>
                </a:r>
                <a:br>
                  <a:rPr lang="it-IT" sz="1600" b="1" dirty="0"/>
                </a:br>
                <a:r>
                  <a:rPr lang="it-IT" sz="1600" dirty="0"/>
                  <a:t>Evidenzia come all'</a:t>
                </a:r>
                <a:r>
                  <a:rPr lang="it-IT" sz="1600" u="sng" dirty="0"/>
                  <a:t>aumentare dell'incidentalità rispetto alla popolazione</a:t>
                </a:r>
                <a:r>
                  <a:rPr lang="it-IT" sz="1600" dirty="0"/>
                  <a:t> </a:t>
                </a:r>
                <a:r>
                  <a:rPr lang="it-IT" sz="1600" u="sng" dirty="0"/>
                  <a:t>aumenti anche quella rispetto al parco veicolare</a:t>
                </a:r>
                <a:r>
                  <a:rPr lang="it-IT" sz="1600" dirty="0"/>
                  <a:t>, consentendo di distinguere cinque livelli progressivi di rischio tra i comuni analizzati. Tale classificazione permette di individuare i </a:t>
                </a:r>
                <a:r>
                  <a:rPr lang="it-IT" sz="1600" u="sng" dirty="0"/>
                  <a:t>territori maggiormente esposti al rischio</a:t>
                </a:r>
                <a:r>
                  <a:rPr lang="it-IT" sz="1600" dirty="0"/>
                  <a:t> e rappresenta un utile supporto per la </a:t>
                </a:r>
                <a:r>
                  <a:rPr lang="it-IT" sz="1600" b="1" dirty="0"/>
                  <a:t>pianificazione di interventi di sicurezza stradale</a:t>
                </a:r>
                <a:r>
                  <a:rPr lang="it-IT" sz="1600" dirty="0"/>
                  <a:t>.</a:t>
                </a:r>
              </a:p>
            </p:txBody>
          </p:sp>
        </mc:Choice>
        <mc:Fallback>
          <p:sp>
            <p:nvSpPr>
              <p:cNvPr id="2" name="Segnaposto contenuto 12">
                <a:extLst>
                  <a:ext uri="{FF2B5EF4-FFF2-40B4-BE49-F238E27FC236}">
                    <a16:creationId xmlns:a16="http://schemas.microsoft.com/office/drawing/2014/main" id="{1B28D5A8-7355-EEAD-0DD4-B832188441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48640" y="1412776"/>
                <a:ext cx="11452016" cy="5445224"/>
              </a:xfrm>
              <a:blipFill>
                <a:blip r:embed="rId4"/>
                <a:stretch>
                  <a:fillRect l="-213" t="-784" r="-585" b="-78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1384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70279_TF89082059" id="{0623B0B3-6FE1-4340-8CC6-24BF6CF09B81}" vid="{AD8BE5D1-B07B-47BA-AC7B-4568F17EF63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6c66ad41-3359-4f35-bfbc-f1c93290a39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42FCCF3022BCE479D753D0EFFEA25D9" ma:contentTypeVersion="7" ma:contentTypeDescription="Creare un nuovo documento." ma:contentTypeScope="" ma:versionID="d817af28130ad8b8750ee402bebc7d9d">
  <xsd:schema xmlns:xsd="http://www.w3.org/2001/XMLSchema" xmlns:xs="http://www.w3.org/2001/XMLSchema" xmlns:p="http://schemas.microsoft.com/office/2006/metadata/properties" xmlns:ns3="6c66ad41-3359-4f35-bfbc-f1c93290a393" targetNamespace="http://schemas.microsoft.com/office/2006/metadata/properties" ma:root="true" ma:fieldsID="88d137f8dddca81e0290f8feceb43403" ns3:_="">
    <xsd:import namespace="6c66ad41-3359-4f35-bfbc-f1c93290a39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66ad41-3359-4f35-bfbc-f1c93290a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86D9CC-0D9D-4BFE-B3F3-26F480BF8C8A}">
  <ds:schemaRefs>
    <ds:schemaRef ds:uri="6c66ad41-3359-4f35-bfbc-f1c93290a393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401DF2-A03E-4D2A-A849-716BF0BB83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66ad41-3359-4f35-bfbc-f1c93290a3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Presentazione squadrata classica moderna</Template>
  <TotalTime>909</TotalTime>
  <Words>1238</Words>
  <Application>Microsoft Office PowerPoint</Application>
  <PresentationFormat>Widescreen</PresentationFormat>
  <Paragraphs>75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4" baseType="lpstr">
      <vt:lpstr>Arial</vt:lpstr>
      <vt:lpstr>Cambria Math</vt:lpstr>
      <vt:lpstr>Tw Cen MT</vt:lpstr>
      <vt:lpstr>Tw Cen MT Condensed</vt:lpstr>
      <vt:lpstr>Wingdings</vt:lpstr>
      <vt:lpstr>Wingdings 3</vt:lpstr>
      <vt:lpstr>ModernClassicBlock-3</vt:lpstr>
      <vt:lpstr>Italian Road Traffic Analysis</vt:lpstr>
      <vt:lpstr>PROBLEMA IN QUESTIONE, PROCESSO UTILIZZATO E STRUMENTI/TECNOLOGIE UTILIZZATI</vt:lpstr>
      <vt:lpstr>STRUTTURA, VARIABILI E UNIONe DEI DATASET</vt:lpstr>
      <vt:lpstr>MODELLO DI REGRESSIONE LINEARE MULTIPLA</vt:lpstr>
      <vt:lpstr>INDIVIDUAZIONE DELLE CITTÀ E LE AREE DI INTERESSE</vt:lpstr>
      <vt:lpstr>INDIVIDUAZIONE DELLE CITTA’ E LE AREE DI INTERESSE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CAVALLO</dc:creator>
  <cp:lastModifiedBy>ANDREA CAVALLO</cp:lastModifiedBy>
  <cp:revision>11</cp:revision>
  <dcterms:created xsi:type="dcterms:W3CDTF">2026-07-30T09:11:27Z</dcterms:created>
  <dcterms:modified xsi:type="dcterms:W3CDTF">2026-08-02T14:08:13Z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0x010100542FCCF3022BCE479D753D0EFFEA25D9</vt:lpwstr>
  </property>
</Properties>
</file>